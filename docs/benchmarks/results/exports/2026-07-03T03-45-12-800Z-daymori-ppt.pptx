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07E5866-2E47-4A35-992C-8CD443845DD1}" type="datetimeFigureOut">
              <a:rPr lang="zh-CN" altLang="en-US" smtClean="0"/>
              <a:t>2026/7/3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986FF3-EDC5-4294-8F16-53DCCEA1BA8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854697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 </a:t>
            </a:r>
            <a:r>
              <a:rPr lang="en-US" altLang="zh-CN"/>
              <a:t>• </a:t>
            </a:r>
            <a:r>
              <a:rPr lang="zh-CN" altLang="en-US"/>
              <a:t>行动：先看导入问题，再完成分层练习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86FF3-EDC5-4294-8F16-53DCCEA1BA88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901737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目录结构图 </a:t>
            </a:r>
            <a:r>
              <a:rPr lang="en-US" altLang="zh-CN"/>
              <a:t>• </a:t>
            </a:r>
            <a:r>
              <a:rPr lang="zh-CN" altLang="en-US"/>
              <a:t>行动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86FF3-EDC5-4294-8F16-53DCCEA1BA88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898565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 </a:t>
            </a:r>
            <a:r>
              <a:rPr lang="en-US" altLang="zh-CN"/>
              <a:t>• </a:t>
            </a:r>
            <a:r>
              <a:rPr lang="zh-CN" altLang="en-US"/>
              <a:t>行动：先回答导入问题再进入新知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86FF3-EDC5-4294-8F16-53DCCEA1BA88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2459450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数据图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86FF3-EDC5-4294-8F16-53DCCEA1BA88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97680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对比图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86FF3-EDC5-4294-8F16-53DCCEA1BA88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216638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86FF3-EDC5-4294-8F16-53DCCEA1BA88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107572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流程图 </a:t>
            </a:r>
            <a:r>
              <a:rPr lang="en-US" altLang="zh-CN"/>
              <a:t>• </a:t>
            </a:r>
            <a:r>
              <a:rPr lang="zh-CN" altLang="en-US"/>
              <a:t>复盘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86FF3-EDC5-4294-8F16-53DCCEA1BA88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965080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数据图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86FF3-EDC5-4294-8F16-53DCCEA1BA88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444125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行动清单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86FF3-EDC5-4294-8F16-53DCCEA1BA88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467969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86FF3-EDC5-4294-8F16-53DCCEA1BA88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18429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>
                <a:cs typeface="思源黑体 CN Normal" panose="020B0400000000000000" charset="-122"/>
              </a:rPr>
              <a:t>新能源汽车市场分析</a:t>
            </a: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20XX</a:t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zh-CN" altLang="en-US" sz="66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封面：牛顿第二定律课堂讲解</a:t>
            </a:r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endParaRPr lang="zh-CN" altLang="en-US" sz="14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OfficePLUS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时间：</a:t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202X/05/01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建立课堂主题与学习目标 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本课围绕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F=ma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完成探究与应用</a:t>
            </a:r>
          </a:p>
          <a:p>
            <a:pPr algn="r" defTabSz="914400">
              <a:lnSpc>
                <a:spcPct val="150000"/>
              </a:lnSpc>
              <a:defRPr/>
            </a:pP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学习目标包含概念、实验、计算三维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13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• </a:t>
            </a:r>
            <a:r>
              <a:rPr lang="zh-CN" altLang="en-US" sz="13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背景</a:t>
            </a:r>
          </a:p>
          <a:p>
            <a:r>
              <a:rPr lang="en-US" altLang="zh-CN" sz="13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• </a:t>
            </a:r>
            <a:r>
              <a:rPr lang="zh-CN" altLang="en-US" sz="13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分析</a:t>
            </a:r>
            <a:r>
              <a:rPr lang="en-US" altLang="zh-CN" sz="13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...</a:t>
            </a:r>
            <a:endParaRPr lang="zh-CN" altLang="en-US" sz="13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FF431849-9E9A-7EFC-EB3F-70C285D61A80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79C5875F-2458-30A7-E5D9-7DDDE870E65C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000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FF5B6780-BA9E-27CB-8934-88B00D7C84B7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784332B1-13CC-A1D7-E3B5-A96FEDD52DAF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altLang="zh-CN" sz="1000"/>
              <a:t>• </a:t>
            </a:r>
            <a:r>
              <a:rPr lang="zh-CN" altLang="en-US" sz="1000"/>
              <a:t>背景</a:t>
            </a:r>
          </a:p>
          <a:p>
            <a:r>
              <a:rPr lang="en-US" altLang="zh-CN" sz="1000"/>
              <a:t>• </a:t>
            </a:r>
            <a:r>
              <a:rPr lang="zh-CN" altLang="en-US" sz="1000"/>
              <a:t>分析</a:t>
            </a:r>
            <a:r>
              <a:rPr lang="en-US" altLang="zh-CN" sz="1000"/>
              <a:t>...</a:t>
            </a:r>
            <a:endParaRPr lang="zh-CN" altLang="en-US" sz="1000"/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26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>
                <a:cs typeface="思源黑体 CN Normal" panose="020B0400000000000000" charset="-122"/>
              </a:rPr>
              <a:t>章节</a:t>
            </a:r>
            <a:r>
              <a:rPr lang="en-US" altLang="zh-CN">
                <a:cs typeface="思源黑体 CN Normal" panose="020B0400000000000000" charset="-122"/>
              </a:rPr>
              <a:t>03</a:t>
            </a:r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章节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03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一、问题引入与知识回顾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01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FBADF6A-6A0D-4C95-FF08-FCD4854EAF6F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章节</a:t>
            </a:r>
            <a:r>
              <a:rPr lang="en-US" altLang="zh-CN" sz="1400"/>
              <a:t>03</a:t>
            </a:r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导入：从生活现象出发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FBA97E2-7B1C-E71A-8E6B-8456A7B19835}"/>
              </a:ext>
            </a:extLst>
          </p:cNvPr>
          <p:cNvSpPr txBox="1"/>
          <p:nvPr/>
        </p:nvSpPr>
        <p:spPr>
          <a:xfrm>
            <a:off x="1219200" y="445632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000"/>
              <a:t>用案例建立合力与加速度关系 用案例建立合力与加速度关系 </a:t>
            </a:r>
            <a:r>
              <a:rPr lang="en-US" altLang="zh-CN" sz="1000"/>
              <a:t>• </a:t>
            </a:r>
            <a:r>
              <a:rPr lang="zh-CN" altLang="en-US" sz="1000"/>
              <a:t>物体加速源于合力不为零</a:t>
            </a:r>
          </a:p>
          <a:p>
            <a:r>
              <a:rPr lang="en-US" altLang="zh-CN" sz="1000"/>
              <a:t>• </a:t>
            </a:r>
            <a:r>
              <a:rPr lang="zh-CN" altLang="en-US" sz="1000"/>
              <a:t>同质量车受推力</a:t>
            </a:r>
            <a:r>
              <a:rPr lang="en-US" altLang="zh-CN" sz="1000"/>
              <a:t>2N</a:t>
            </a:r>
            <a:r>
              <a:rPr lang="zh-CN" altLang="en-US" sz="1000"/>
              <a:t>与</a:t>
            </a:r>
            <a:r>
              <a:rPr lang="en-US" altLang="zh-CN" sz="1000"/>
              <a:t>4N</a:t>
            </a:r>
            <a:r>
              <a:rPr lang="zh-CN" altLang="en-US" sz="1000"/>
              <a:t>时</a:t>
            </a:r>
            <a:r>
              <a:rPr lang="en-US" altLang="zh-CN" sz="1000"/>
              <a:t>a</a:t>
            </a:r>
            <a:r>
              <a:rPr lang="zh-CN" altLang="en-US" sz="1000"/>
              <a:t>约成倍变化</a:t>
            </a:r>
            <a:r>
              <a:rPr lang="en-US" altLang="zh-CN" sz="1000"/>
              <a:t>...</a:t>
            </a:r>
            <a:endParaRPr lang="zh-CN" altLang="en-US" sz="100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D2D46D7-0F5F-17DC-3B6B-D2FE8B4181F9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新能源汽车市场分析 </a:t>
            </a:r>
            <a:r>
              <a:rPr lang="en-US" altLang="zh-CN"/>
              <a:t>- </a:t>
            </a:r>
            <a:r>
              <a:rPr lang="zh-CN" altLang="en-US"/>
              <a:t>要点</a:t>
            </a:r>
            <a:r>
              <a:rPr lang="en-US" altLang="zh-CN"/>
              <a:t>4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复习：牛顿第一定律与加速度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3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7D6CC53-FF98-D0DF-3C90-35390F423E19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000"/>
              <a:t>新能源汽车市场分析 </a:t>
            </a:r>
            <a:r>
              <a:rPr lang="en-US" altLang="zh-CN" sz="1000"/>
              <a:t>- </a:t>
            </a:r>
            <a:r>
              <a:rPr lang="zh-CN" altLang="en-US" sz="1000"/>
              <a:t>要点</a:t>
            </a:r>
            <a:r>
              <a:rPr lang="en-US" altLang="zh-CN" sz="1000"/>
              <a:t>5</a:t>
            </a:r>
            <a:endParaRPr lang="zh-CN" altLang="en-US" sz="100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1E48985-05B1-C98C-F42D-69A9CD48AD3A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000"/>
              <a:t>按目标选择最优解 按目标选择最优解 </a:t>
            </a:r>
            <a:r>
              <a:rPr lang="en-US" altLang="zh-CN" sz="1000"/>
              <a:t>• </a:t>
            </a:r>
            <a:r>
              <a:rPr lang="zh-CN" altLang="en-US" sz="1000"/>
              <a:t>优势</a:t>
            </a:r>
          </a:p>
          <a:p>
            <a:r>
              <a:rPr lang="en-US" altLang="zh-CN" sz="1000"/>
              <a:t>• </a:t>
            </a:r>
            <a:r>
              <a:rPr lang="zh-CN" altLang="en-US" sz="1000"/>
              <a:t>成本</a:t>
            </a:r>
            <a:r>
              <a:rPr lang="en-US" altLang="zh-CN" sz="1000"/>
              <a:t>...</a:t>
            </a:r>
            <a:endParaRPr lang="zh-CN" altLang="en-US" sz="1000"/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二、实验探究与定律发现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章节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06</a:t>
            </a:r>
            <a:endParaRPr lang="en-US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F11A0229-CDF8-E438-3FD5-E6CC900DCB16}"/>
              </a:ext>
            </a:extLst>
          </p:cNvPr>
          <p:cNvSpPr txBox="1"/>
          <p:nvPr/>
        </p:nvSpPr>
        <p:spPr>
          <a:xfrm>
            <a:off x="1219200" y="187360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000"/>
              <a:t>章节</a:t>
            </a:r>
            <a:r>
              <a:rPr lang="en-US" altLang="zh-CN" sz="1000"/>
              <a:t>06</a:t>
            </a:r>
            <a:endParaRPr lang="zh-CN" altLang="en-US" sz="100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20A9A85-FB99-1D32-35A8-DB07A1297DF2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章节</a:t>
            </a:r>
            <a:r>
              <a:rPr lang="en-US" altLang="zh-CN" sz="1400"/>
              <a:t>06</a:t>
            </a:r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>
                <a:cs typeface="思源黑体 CN Normal" panose="020B0400000000000000" charset="-122"/>
              </a:rPr>
              <a:t>新能源汽车市场分析 </a:t>
            </a:r>
            <a:r>
              <a:rPr lang="en-US" altLang="zh-CN">
                <a:cs typeface="思源黑体 CN Normal" panose="020B0400000000000000" charset="-122"/>
              </a:rPr>
              <a:t>- </a:t>
            </a:r>
            <a:r>
              <a:rPr lang="zh-CN" altLang="en-US">
                <a:cs typeface="思源黑体 CN Normal" panose="020B0400000000000000" charset="-122"/>
              </a:rPr>
              <a:t>要点</a:t>
            </a:r>
            <a:r>
              <a:rPr lang="en-US" altLang="zh-CN">
                <a:cs typeface="思源黑体 CN Normal" panose="020B0400000000000000" charset="-122"/>
              </a:rPr>
              <a:t>7</a:t>
            </a:r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流程闭环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启动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执行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实验探究：控制变量法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02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A599A92-45DD-99E2-5653-974FDA536BC5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000"/>
              <a:t>流程闭环 流程闭环 </a:t>
            </a:r>
            <a:r>
              <a:rPr lang="en-US" altLang="zh-CN" sz="1000"/>
              <a:t>• </a:t>
            </a:r>
            <a:r>
              <a:rPr lang="zh-CN" altLang="en-US" sz="1000"/>
              <a:t>启动</a:t>
            </a:r>
          </a:p>
          <a:p>
            <a:r>
              <a:rPr lang="en-US" altLang="zh-CN" sz="1000"/>
              <a:t>• </a:t>
            </a:r>
            <a:r>
              <a:rPr lang="zh-CN" altLang="en-US" sz="1000"/>
              <a:t>执行</a:t>
            </a:r>
            <a:r>
              <a:rPr lang="en-US" altLang="zh-CN" sz="1000"/>
              <a:t>...</a:t>
            </a:r>
            <a:endParaRPr lang="zh-CN" altLang="en-US" sz="1000"/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定律推导：从数据到公式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关键指标 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指标变化揭示核心趋势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C671EE30-6C01-93CD-E013-78BF2A11DBE5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新能源汽车市场分析 </a:t>
            </a:r>
            <a:r>
              <a:rPr lang="en-US" altLang="zh-CN"/>
              <a:t>- </a:t>
            </a:r>
            <a:r>
              <a:rPr lang="zh-CN" altLang="en-US"/>
              <a:t>要点</a:t>
            </a:r>
            <a:r>
              <a:rPr lang="en-US" altLang="zh-CN"/>
              <a:t>8</a:t>
            </a:r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B07685F-C1A1-723E-3647-6470F788F51F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关键指标 关键指标 </a:t>
            </a:r>
            <a:r>
              <a:rPr lang="en-US" altLang="zh-CN" sz="1400"/>
              <a:t>• </a:t>
            </a:r>
            <a:r>
              <a:rPr lang="zh-CN" altLang="en-US" sz="1400"/>
              <a:t>指标变化揭示核心趋势</a:t>
            </a: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公式详解：</a:t>
            </a: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F=ma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的深度理解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400">
                <a:latin typeface="MiSans Normal" pitchFamily="2" charset="-122"/>
                <a:ea typeface="MiSans Normal" pitchFamily="2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</a:rPr>
              <a:t>动作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</a:rPr>
              <a:t>1</a:t>
            </a:r>
          </a:p>
          <a:p>
            <a:pPr algn="ctr"/>
            <a:r>
              <a:rPr lang="en-US" altLang="zh-CN" sz="1400">
                <a:latin typeface="MiSans Normal" pitchFamily="2" charset="-122"/>
                <a:ea typeface="MiSans Normal" pitchFamily="2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</a:rPr>
              <a:t>动作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</a:rPr>
              <a:t>2</a:t>
            </a:r>
          </a:p>
          <a:p>
            <a:pPr algn="ctr"/>
            <a:r>
              <a:rPr lang="en-US" altLang="zh-CN" sz="1400">
                <a:latin typeface="MiSans Normal" pitchFamily="2" charset="-122"/>
                <a:ea typeface="MiSans Normal" pitchFamily="2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</a:rPr>
              <a:t>动作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1400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请在此输入您的文字内容或者粘贴复制的文本到此处，请在此输入您的文字内容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>输入标题</a:t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请在此输入您的文字内容或者粘贴复制的文本到此处，请在此输入您的文字内容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输入标题</a:t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请在此输入您的文字内容或者粘贴复制的文本到此处，请在此输入您的文字内容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输入标题</a:t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请在此输入您的文字内容或者粘贴复制的文本到此处，请在此输入您的文字内容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>输入标题</a:t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72F8052C-EDE8-4DFB-3326-A126FA4EA63E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000"/>
              <a:t>下一步行动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4D1AB1DC-009C-77E3-13E2-605A8B96D9F5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altLang="zh-CN" sz="1000"/>
              <a:t>• </a:t>
            </a:r>
            <a:r>
              <a:rPr lang="zh-CN" altLang="en-US" sz="1000"/>
              <a:t>动作</a:t>
            </a:r>
            <a:r>
              <a:rPr lang="en-US" altLang="zh-CN" sz="1000"/>
              <a:t>1</a:t>
            </a:r>
          </a:p>
          <a:p>
            <a:r>
              <a:rPr lang="en-US" altLang="zh-CN" sz="1000"/>
              <a:t>• </a:t>
            </a:r>
            <a:r>
              <a:rPr lang="zh-CN" altLang="en-US" sz="1000"/>
              <a:t>动作</a:t>
            </a:r>
            <a:r>
              <a:rPr lang="en-US" altLang="zh-CN" sz="1000"/>
              <a:t>2...</a:t>
            </a:r>
            <a:endParaRPr lang="zh-CN" altLang="en-US" sz="1000"/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三、例题应用：从理论到计算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19AFF2C9-596B-C7D6-0F07-80896C99A9CA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000"/>
              <a:t>进入标准解题流程与建模 进入标准解题流程与建模 </a:t>
            </a:r>
            <a:r>
              <a:rPr lang="en-US" altLang="zh-CN" sz="1000"/>
              <a:t>• </a:t>
            </a:r>
            <a:r>
              <a:rPr lang="zh-CN" altLang="en-US" sz="1000"/>
              <a:t>先受力分析后列式是核心流程</a:t>
            </a:r>
          </a:p>
          <a:p>
            <a:r>
              <a:rPr lang="en-US" altLang="zh-CN" sz="1000"/>
              <a:t>• </a:t>
            </a:r>
            <a:r>
              <a:rPr lang="zh-CN" altLang="en-US" sz="1000"/>
              <a:t>流程为选对象</a:t>
            </a:r>
            <a:r>
              <a:rPr lang="en-US" altLang="zh-CN" sz="1000"/>
              <a:t>-</a:t>
            </a:r>
            <a:r>
              <a:rPr lang="zh-CN" altLang="en-US" sz="1000"/>
              <a:t>画图</a:t>
            </a:r>
            <a:r>
              <a:rPr lang="en-US" altLang="zh-CN" sz="1000"/>
              <a:t>-</a:t>
            </a:r>
            <a:r>
              <a:rPr lang="zh-CN" altLang="en-US" sz="1000"/>
              <a:t>定正向</a:t>
            </a:r>
            <a:r>
              <a:rPr lang="en-US" altLang="zh-CN" sz="1000"/>
              <a:t>-</a:t>
            </a:r>
            <a:r>
              <a:rPr lang="zh-CN" altLang="en-US" sz="1000"/>
              <a:t>列合力</a:t>
            </a:r>
            <a:r>
              <a:rPr lang="en-US" altLang="zh-CN" sz="1000"/>
              <a:t>...</a:t>
            </a:r>
            <a:endParaRPr lang="zh-CN" altLang="en-US" sz="1000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57D4F31A-7722-64B6-2147-360DA3C35E2D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感谢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 nodePh="1">
                                  <p:stCondLst>
                                    <p:cond delay="2200"/>
                                  </p:stCondLst>
                                  <p:endCondLst>
                                    <p:cond evt="begin" delay="0">
                                      <p:tn val="4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30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487</Words>
  <Application>Microsoft Office PowerPoint</Application>
  <PresentationFormat>宽屏</PresentationFormat>
  <Paragraphs>90</Paragraphs>
  <Slides>10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ExtraLight</vt:lpstr>
      <vt:lpstr>等线</vt:lpstr>
      <vt:lpstr>MiSans Semibold</vt:lpstr>
      <vt:lpstr>MiSans</vt:lpstr>
      <vt:lpstr>MiSans Demibold</vt:lpstr>
      <vt:lpstr>MiSans Light</vt:lpstr>
      <vt:lpstr>思源黑体 CN Normal</vt:lpstr>
      <vt:lpstr>等线 Light</vt:lpstr>
      <vt:lpstr>MiSans Normal</vt:lpstr>
      <vt:lpstr>MiSans Medium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14</cp:revision>
  <dcterms:created xsi:type="dcterms:W3CDTF">2022-06-02T07:27:36Z</dcterms:created>
  <dcterms:modified xsi:type="dcterms:W3CDTF">2026-07-03T03:45:08Z</dcterms:modified>
</cp:coreProperties>
</file>