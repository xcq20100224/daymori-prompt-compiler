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9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导入：情境导入｜牛顿第二定律：力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及其应用</a:t>
            </a:r>
          </a:p>
          <a:p>
            <a:pPr marL="0" indent="0" algn="r">
              <a:buNone/>
            </a:pPr>
            <a:endParaRPr lang="zh-CN" altLang="en-US" sz="11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结论：力决定物体加速度</a:t>
            </a:r>
          </a:p>
          <a:p>
            <a:pPr marL="0" indent="0" algn="r">
              <a:buNone/>
            </a:pP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 algn="r">
              <a:buNone/>
            </a:pP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行动：本节提问：力与质量关系</a:t>
            </a:r>
          </a:p>
          <a:p>
            <a:pPr marL="0" indent="0" algn="r">
              <a:buNone/>
            </a:pPr>
            <a:endParaRPr lang="zh-CN" altLang="en-US" sz="11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r>
              <a:rPr lang="en-US" altLang="zh-CN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及其应用</a:t>
            </a:r>
          </a:p>
          <a:p>
            <a:pPr marL="0" indent="0">
              <a:buNone/>
            </a:pPr>
            <a:endParaRPr lang="zh-CN" altLang="en-US" sz="3900" b="1">
              <a:solidFill>
                <a:srgbClr val="0E2A5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结论：力决定物体加速度</a:t>
            </a:r>
          </a:p>
          <a:p>
            <a:pPr marL="0" indent="0">
              <a:buNone/>
            </a:pPr>
            <a:r>
              <a:rPr lang="en-US" altLang="zh-CN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行动：本节提问：力与质量关系</a:t>
            </a:r>
          </a:p>
          <a:p>
            <a:pPr marL="0" indent="0">
              <a:buNone/>
            </a:pPr>
            <a:endParaRPr lang="zh-CN" altLang="en-US" sz="3900" b="1">
              <a:solidFill>
                <a:srgbClr val="0E2A5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39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r>
              <a:rPr lang="en-US" altLang="zh-CN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及其应用</a:t>
            </a:r>
          </a:p>
          <a:p>
            <a:pPr marL="0" indent="0">
              <a:buNone/>
            </a:pPr>
            <a:endParaRPr lang="zh-CN" altLang="en-US" sz="16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结论：力决定物体加速度</a:t>
            </a:r>
          </a:p>
          <a:p>
            <a:pPr marL="0" indent="0">
              <a:buNone/>
            </a:pPr>
            <a:r>
              <a:rPr lang="en-US" altLang="zh-CN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行动：本节提问：力与质量关系</a:t>
            </a:r>
          </a:p>
          <a:p>
            <a:pPr marL="0" indent="0">
              <a:buNone/>
            </a:pPr>
            <a:endParaRPr lang="zh-CN" altLang="en-US" sz="16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6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r>
              <a:rPr lang="en-US" altLang="zh-CN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及其应用</a:t>
            </a:r>
          </a:p>
          <a:p>
            <a:pPr marL="0" indent="0">
              <a:buNone/>
            </a:pPr>
            <a:endParaRPr lang="zh-CN" altLang="en-US" sz="12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结论：力决定物体加速度</a:t>
            </a:r>
          </a:p>
          <a:p>
            <a:pPr marL="0" indent="0">
              <a:buNone/>
            </a:pPr>
            <a:r>
              <a:rPr lang="en-US" altLang="zh-CN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行动：本节提问：力与质量关系</a:t>
            </a:r>
          </a:p>
          <a:p>
            <a:pPr marL="0" indent="0">
              <a:buNone/>
            </a:pPr>
            <a:endParaRPr lang="zh-CN" altLang="en-US" sz="12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2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及其应用</a:t>
            </a:r>
          </a:p>
          <a:p>
            <a:pPr marL="0" indent="0">
              <a:buNone/>
            </a:pPr>
            <a:endParaRPr lang="zh-CN" altLang="en-US" sz="11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结论：力决定物体加速度</a:t>
            </a:r>
          </a:p>
          <a:p>
            <a:pPr marL="0" indent="0">
              <a:buNone/>
            </a:pP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行动：本节提问：力与质量关系</a:t>
            </a:r>
          </a:p>
          <a:p>
            <a:pPr marL="0" indent="0">
              <a:buNone/>
            </a:pPr>
            <a:endParaRPr lang="zh-CN" altLang="en-US" sz="11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1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及其应用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结论：力决定物体加速度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行动：本节提问：力与质量关系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及其应用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结论：力决定物体加速度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行动：本节提问：力与质量关系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导入：学习目标｜知识框架总览</a:t>
            </a:r>
            <a:r>
              <a:rPr lang="en-US" altLang="zh-CN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05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5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建立整体知识结构（围绕牛顿第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结论：模块划分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证据：先后顺序（当前值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行动：重点标注；决策建议：两周内完；含提问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概念：概念定义｜牛顿第二定律本质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结论：力是物体加速度的原因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N=kg·m/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行动：板演推导过程（本节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分钟）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概念：公式结构｜方法步骤拆解</a:t>
            </a:r>
            <a:r>
              <a:rPr lang="en-US" altLang="zh-CN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形成可复用解题或操作步骤（围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，目标值；补充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行动：步骤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；决策建议：下季度纳入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概念：单位量纲｜课堂互动与练习</a:t>
            </a:r>
            <a:r>
              <a:rPr lang="en-US" altLang="zh-CN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通过互动巩固理解（围绕牛顿第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结论：互动问题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证据：练习任务（当前值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行动：即时反馈；决策建议：本周完成；含提问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概念：适用条件｜实验验证（牛顿第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完成知识回顾并布置后续任务（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结论：本节总结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证据：作业要求（当前值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行动：下节预告；决策建议：两周内完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实验：实验目的｜验证牛顿第二定律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通过实验数据验证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结论：力与加速度成正比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F=2N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m=0.5kg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行动：本节板演计算过程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5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实验：控制变量｜策略拆解（牛顿第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ctr">
              <a:buNone/>
            </a:pPr>
            <a:endParaRPr lang="zh-CN" altLang="en-US" sz="1000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30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30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2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2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00" b="1">
              <a:solidFill>
                <a:srgbClr val="2D6CD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50">
              <a:solidFill>
                <a:srgbClr val="17396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1050">
              <a:solidFill>
                <a:srgbClr val="365B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105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把策略拆成可执行动作包（围绕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结论：动作优先级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证据：动作路径（当前值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77%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，目标；补充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F=ma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与单位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N/kg/m/s²</a:t>
            </a: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行动：阶段目标；决策建议：下季度纳；含提问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板演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</a:p>
          <a:p>
            <a:pPr marL="0" indent="0" algn="r">
              <a:buNone/>
            </a:pPr>
            <a:endParaRPr lang="zh-CN" altLang="en-US" sz="900">
              <a:solidFill>
                <a:srgbClr val="456A9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r">
              <a:buNone/>
            </a:pP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Notes: 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先结论、后依据、再行动建议，控制在</a:t>
            </a:r>
            <a:r>
              <a:rPr lang="en-US" altLang="zh-CN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</a:t>
            </a:r>
            <a:r>
              <a:rPr lang="zh-CN" altLang="en-US" sz="90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实验：数据记录｜例题2：斜面问题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目标：拓展到斜面受力分析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本页结论：拓展到斜面受力分析；关键抓手：结论：光滑斜面倾角30°，下滑加速度4.9m/s²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结论：光滑斜面倾角30°，下滑加速度4.9m/s²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证据：a=g·sin30°=9.8×0.5=4.9m/s²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行动：分组讨论-斜面受力，本节18min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结论：光滑斜面倾角30°，下滑加速度4.9m...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证据：a=g·sin30°=9.8×0.5=...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行动：分组讨论-斜面受力，本节18min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斜面物体受力分解图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演讲备注：引导分解重力沿斜面和垂直斜面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实验：结论提炼｜实验：控制变量法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目标：通过实验验证a与F、m关系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本页结论：通过实验验证a与F、m关系；关键抓手：结论：保持m不变，F增大2倍，a增大2倍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结论：保持m不变，F增大2倍，a增大2倍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证据：m=0.5kg，F1=2N时a1=4m/s²；F2=4N时a2=8m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行动：演示实验并记录数据，本节22min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结论：保持m不变，F增大2倍，a增大2倍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证据：m=0.5kg，F1=2N时a1=4m...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行动：演示实验并记录数据，本节22min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气垫导轨实验装置图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数据记录表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演讲备注：强调控制变量，减少摩擦影响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例题：基础例题｜实验数据分析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目标：处理实验数据得到线性关系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本页结论：处理实验数据得到线性关系；关键抓手：结论：a-F图像为过原点直线，斜率1/m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结论：a-F图像为过原点直线，斜率1/m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证据：m=0.5kg时斜率为2(1/0.5)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行动：指导学生作图，本节25min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结论：a-F图像为过原点直线，斜率1/m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证据：m=0.5kg时斜率为2(1/0.5)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行动：指导学生作图，本节25min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空白坐标纸模板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演讲备注：横坐标力，纵坐标加速度，标度合适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例题：中档例题｜牛顿第二定律的瞬时性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目标：理解力与加速度瞬时对应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本页结论：理解力与加速度瞬时对应；关键抓手：结论：力变则加速度瞬时改变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结论：力变则加速度瞬时改变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证据：撤去推力后，物体加速度瞬间为零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行动：演示瞬间撤力小车运动，本节28min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结论：力变则加速度瞬时改变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证据：撤去推力后，物体加速度瞬间为零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行动：演示瞬间撤力小车运动，本节28min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小车瞬时运动动图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演讲备注：对比恒力与变力情况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例题：综合例题｜正交分解法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目标：掌握复杂受力时分解技巧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本页结论：掌握复杂受力时分解技巧；关键抓手：结论：将力分解到x和y方向分别计算合力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结论：将力分解到x和y方向分别计算合力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证据：30°斜向上拉力20N，Fx≈17.3N，Fy=10N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行动：板演分解过程，本节30min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结论：将力分解到x和y方向分别计算合力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证据：30°斜向上拉力20N，Fx≈17.3...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行动：板演分解过程，本节30min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正交分解示意图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演讲备注：强调三角函数使用，初中可用直角三角形比例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例题：步骤拆解｜连接体问题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目标：培养整体法和隔离法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本页结论：培养整体法和隔离法；关键抓手：结论：两物体通过绳子连接，整体加速度相同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结论：两物体通过绳子连接，整体加速度相同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证据：m1=2kg, m2=1kg, F=6N, a=2m/s²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行动：练习整体法求加速度，本节33min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结论：两物体通过绳子连接，整体加速度相同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证据：m1=2kg, m2=1kg, F=6...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行动：练习整体法求加速度，本节33min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滑轮连接体图示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演讲备注：先整体后隔离，注意绳子张力大小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易错：易错点1｜课堂练习1：基础计算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目标：巩固F=ma直接应用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本页结论：巩固F=ma直接应用；关键抓手：结论：质量3kg，加速度4m/s²，所需合力12N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结论：质量3kg，加速度4m/s²，所需合力12N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证据：3×4=12N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行动：学生独立完成练习，本节35min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结论：质量3kg，加速度4m/s²，所需合力...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证据：3×4=12N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行动：学生独立完成练习，本节35min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练习题题干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演讲备注：巡视学生答题情况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易错：易错点2｜课堂练习2：多力问题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目标：训练多个力合力下的计算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本页结论：训练多个力合力下的计算；关键抓手：结论：物体受10N和6N同向，再受4N反向，合力12N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结论：物体受10N和6N同向，再受4N反向，合力12N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证据：10+6-4=12N, m=4kg→a=3m/s²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行动：练习并互相批改，本节38min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结论：物体受10N和6N同向，再受4N反向，...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证据：10+6-4=12N, m=4kg→a...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行动：练习并互相批改，本节38min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多力方向示意图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演讲备注：提醒先求合力大小和方向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练习：当堂练习｜易错点辨析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目标：纠正常见误解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本页结论：纠正常见误解；关键抓手：结论：a与F成正比，与m成反比不等同于F与a成正比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结论：a与F成正比，与m成反比不等同于F与a成正比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证据：质量增加，加速度减半但力未变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行动：提问“m增大，a一定减小吗？”本节40min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结论：a与F成正比，与m成反比不等同于F与a...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证据：质量增加，加速度减半但力未变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行动：提问“m增大，a一定减小吗？”本节40...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正反比例辨析表格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演讲备注：举例说明前提条件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练习：分层巩固｜本节知识总结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目标：梳理核心概念与公式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本页结论：梳理核心概念与公式；关键抓手：结论：牛顿第二定律F=ma是力与运动桥梁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结论：牛顿第二定律F=ma是力与运动桥梁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证据：三要素：内容、公式、单位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行动：学生口头总结关键点，本节42min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结论：牛顿第二定律F=ma是力与运动桥梁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证据：三要素：内容、公式、单位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行动：学生口头总结关键点，本节42min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知识树结构图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演讲备注：鼓励学生用自己的话复述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小结：知识小结｜课后作业布置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目标：布置分层作业巩固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本页结论：布置分层作业巩固；关键抓手：结论：完成课本P45第3、4题，选做第5题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结论：完成课本P45第3、4题，选做第5题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证据：第3题F=12N,m=4kg求a=3m/s²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行动：明确截止时间，课后完成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结论：完成课本P45第3、4题，选做第5题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证据：第3题F=12N,m=4kg求a=3m...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行动：明确截止时间，课后完成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作业题截图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演讲备注：强调独立思考，下周检查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小结：作业拓展｜预习下节提示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目标：预告牛顿第三定律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本页结论：预告牛顿第三定律；关键抓手：结论：下节学习作用和反作用力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结论：下节学习作用和反作用力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证据：用手推墙，感觉墙也在推手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行动：让学生回家体验推墙感受，下节讨论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结论：下节学习作用和反作用力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证据：用手推墙，感觉墙也在推手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行动：让学生回家体验推墙感受，下节讨论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推墙示意图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演讲备注：激发好奇心，联系生活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11086</Words>
  <Application>Microsoft Office PowerPoint</Application>
  <PresentationFormat>宽屏</PresentationFormat>
  <Paragraphs>1280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初二物理：牛顿第二定律 - classroom-teaching</dc:title>
  <dc:subject>classroom-teaching</dc:subject>
  <dc:creator>Daymori</dc:creator>
  <cp:lastModifiedBy>yeli jiang</cp:lastModifiedBy>
  <cp:revision>2</cp:revision>
  <dcterms:created xsi:type="dcterms:W3CDTF">2026-06-29T05:00:47Z</dcterms:created>
  <dcterms:modified xsi:type="dcterms:W3CDTF">2026-07-02T01:27:25Z</dcterms:modified>
</cp:coreProperties>
</file>