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ED8225-4334-4057-8063-02AC25ED4F14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19F1A3-D5A9-4BFB-AECE-F6C6411376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46051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ABTest0_1783519287562</a:t>
            </a:r>
            <a:r>
              <a:rPr lang="zh-CN" altLang="en-US"/>
              <a:t>现状结构图 需要先完成问题分层与优先级重排。 图示： </a:t>
            </a:r>
            <a:r>
              <a:rPr lang="en-US" altLang="zh-CN"/>
              <a:t>ABTest0_1783519287562</a:t>
            </a:r>
            <a:r>
              <a:rPr lang="zh-CN" altLang="en-US"/>
              <a:t>现状结</a:t>
            </a:r>
            <a:r>
              <a:rPr lang="en-US" altLang="zh-CN"/>
              <a:t>… </a:t>
            </a:r>
            <a:r>
              <a:rPr lang="zh-CN" altLang="en-US"/>
              <a:t>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19F1A3-D5A9-4BFB-AECE-F6C6411376B9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63993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ABTest0_1783519287562</a:t>
            </a:r>
            <a:r>
              <a:rPr lang="zh-CN" altLang="en-US"/>
              <a:t>问题分层卡片 题拆为目标定义、流程协同、 执行能力与反馈闭环四个层面。 先聚焦高频高影响环节， 再逐步覆盖复杂场景， 可显著降低试点风险。 图示： </a:t>
            </a:r>
            <a:r>
              <a:rPr lang="en-US" altLang="zh-CN"/>
              <a:t>ABTest0_17835 19287562</a:t>
            </a:r>
            <a:r>
              <a:rPr lang="zh-CN" altLang="en-US"/>
              <a:t>问题分</a:t>
            </a:r>
            <a:r>
              <a:rPr lang="en-US" altLang="zh-CN"/>
              <a:t>… </a:t>
            </a:r>
            <a:r>
              <a:rPr lang="zh-CN" altLang="en-US"/>
              <a:t>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19F1A3-D5A9-4BFB-AECE-F6C6411376B9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82086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ABTest0_1783519287562</a:t>
            </a:r>
            <a:r>
              <a:rPr lang="zh-CN" altLang="en-US"/>
              <a:t>方案架构图 先完成基线与关键能力 建设， 再通过迭代机制优化质 量， 形成可复制的执行闭环。 图示： </a:t>
            </a:r>
            <a:r>
              <a:rPr lang="en-US" altLang="zh-CN"/>
              <a:t>ABTest0_17 8351928756 2</a:t>
            </a:r>
            <a:r>
              <a:rPr lang="zh-CN" altLang="en-US"/>
              <a:t>方案架</a:t>
            </a:r>
            <a:r>
              <a:rPr lang="en-US" altLang="zh-CN"/>
              <a:t>… </a:t>
            </a:r>
            <a:r>
              <a:rPr lang="zh-CN" altLang="en-US"/>
              <a:t>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19F1A3-D5A9-4BFB-AECE-F6C6411376B9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8226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19F1A3-D5A9-4BFB-AECE-F6C6411376B9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54427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集，至少覆盖效率、质量、 成本与稳定性四类指标。 只有当关键指标持续改善，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19F1A3-D5A9-4BFB-AECE-F6C6411376B9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25442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19F1A3-D5A9-4BFB-AECE-F6C6411376B9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47888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en-US" altLang="zh-CN">
                <a:cs typeface="思源黑体 CN Normal" panose="020B0400000000000000" charset="-122"/>
              </a:rPr>
              <a:t>ABTest0_1783519287562</a:t>
            </a:r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ABTest0_1783519287562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提案汇报 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1/10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ABTest0_17835192</a:t>
            </a:r>
          </a:p>
          <a:p>
            <a:r>
              <a:rPr lang="en-US" altLang="zh-CN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87562</a:t>
            </a:r>
            <a:r>
              <a:rPr lang="zh-CN" altLang="en-US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的核心</a:t>
            </a:r>
            <a:r>
              <a:rPr lang="en-US" altLang="zh-CN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…</a:t>
            </a:r>
            <a:endParaRPr lang="zh-CN" altLang="en-US" sz="13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2/10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465E804E-938D-AE00-7D0A-98FBC0CB8790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49A7FAF-3507-9767-D46C-6F318C09F682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ABTest0_1783519287562</a:t>
            </a:r>
            <a:r>
              <a:rPr lang="zh-CN" altLang="en-US" sz="1400"/>
              <a:t>的核心</a:t>
            </a:r>
            <a:r>
              <a:rPr lang="en-US" altLang="zh-CN" sz="1400"/>
              <a:t>…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现状评估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现状背景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ABTest0_1783519287562</a:t>
            </a:r>
          </a:p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当前在目标达成、资源配置与执行路径上存在明显瓶颈。</a:t>
            </a:r>
          </a:p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若继续沿用现有方式，成本、效率与可持续性将同步承压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...</a:t>
            </a:r>
            <a:endParaRPr lang="zh-CN" altLang="en-US" sz="14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400"/>
              <a:t>问题拆解</a:t>
            </a:r>
            <a:endParaRPr sz="140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000"/>
              <a:t>围绕</a:t>
            </a:r>
            <a:r>
              <a:rPr lang="en-US" sz="1000"/>
              <a:t>ABTest0_178</a:t>
            </a:r>
          </a:p>
          <a:p>
            <a:pPr algn="ctr"/>
            <a:r>
              <a:rPr lang="en-US" sz="1000"/>
              <a:t>3519287562</a:t>
            </a:r>
            <a:r>
              <a:rPr lang="zh-CN" altLang="en-US" sz="1000"/>
              <a:t>可将问</a:t>
            </a:r>
            <a:r>
              <a:rPr lang="en-US" altLang="zh-CN" sz="1000"/>
              <a:t>...</a:t>
            </a:r>
            <a:endParaRPr sz="10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AF9D358-FF18-D913-792F-8EE33D6ADB7D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关键问题拆解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6B01ED7-941D-9CF3-D89B-3C5490B26E87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问题拆解 问题拆解 围绕</a:t>
            </a:r>
            <a:r>
              <a:rPr lang="en-US" altLang="zh-CN" sz="1000"/>
              <a:t>ABTest0_1783519287562</a:t>
            </a:r>
            <a:r>
              <a:rPr lang="zh-CN" altLang="en-US" sz="1000"/>
              <a:t>可将问题拆为目标定义、流程协同、</a:t>
            </a:r>
          </a:p>
          <a:p>
            <a:r>
              <a:rPr lang="zh-CN" altLang="en-US" sz="1000"/>
              <a:t>执行能力与反馈闭环四个层面。先聚焦高频高影响环节，再逐步覆盖复杂场景，可显著降低试点风险。</a:t>
            </a:r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wrap="square" lIns="80632" tIns="40316" rIns="80632" bIns="40316" rtlCol="0" anchor="ctr">
            <a:normAutofit/>
          </a:bodyPr>
          <a:lstStyle/>
          <a:p>
            <a:pPr algn="ctr"/>
            <a:r>
              <a:rPr lang="en-US" altLang="zh-CN" sz="1400" kern="0">
                <a:solidFill>
                  <a:sysClr val="window" lastClr="FFFFFF"/>
                </a:solidFill>
                <a:latin typeface="MiSans" panose="00000500000000000000" pitchFamily="2" charset="-122"/>
                <a:ea typeface="MiSans" panose="00000500000000000000" pitchFamily="2" charset="-122"/>
              </a:rPr>
              <a:t>ABTest0_1783519287562</a:t>
            </a:r>
            <a:r>
              <a:rPr lang="zh-CN" altLang="en-US" sz="1400" kern="0">
                <a:solidFill>
                  <a:sysClr val="window" lastClr="FFFFFF"/>
                </a:solidFill>
                <a:latin typeface="MiSans" panose="00000500000000000000" pitchFamily="2" charset="-122"/>
                <a:ea typeface="MiSans" panose="00000500000000000000" pitchFamily="2" charset="-122"/>
              </a:rPr>
              <a:t>的分阶</a:t>
            </a:r>
            <a:r>
              <a:rPr lang="en-US" altLang="zh-CN" sz="1400" kern="0">
                <a:solidFill>
                  <a:sysClr val="window" lastClr="FFFFFF"/>
                </a:solidFill>
                <a:latin typeface="MiSans" panose="00000500000000000000" pitchFamily="2" charset="-122"/>
                <a:ea typeface="MiSans" panose="00000500000000000000" pitchFamily="2" charset="-122"/>
              </a:rPr>
              <a:t>…</a:t>
            </a:r>
            <a:endParaRPr lang="zh-CN" altLang="en-US" sz="1400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5/10</a:t>
            </a:r>
            <a:endParaRPr lang="zh-CN" altLang="en-US" sz="140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43427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/>
              <a:t>方案设计</a:t>
            </a:r>
            <a:endParaRPr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17EB82C-73F5-8A68-5F11-F03F60034B9E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ABTest0_1783519287562</a:t>
            </a:r>
            <a:r>
              <a:rPr lang="zh-CN" altLang="en-US" sz="1400"/>
              <a:t>的分阶</a:t>
            </a:r>
            <a:r>
              <a:rPr lang="en-US" altLang="zh-CN" sz="1400"/>
              <a:t>…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ABTest0_17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8351928756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/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方案建议采用“目标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对齐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能力建设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效果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验证”三层架构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9BA20F9-EE08-A94D-FD92-421455909C38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方案架构</a:t>
            </a: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三阶段推进试点落地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实施路径 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1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阶段：明确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ABTest0_178351</a:t>
            </a:r>
          </a:p>
          <a:p>
            <a:pPr algn="ctr" defTabSz="914377">
              <a:defRPr/>
            </a:pP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928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2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阶段：完成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ABTest0_1783519</a:t>
            </a:r>
          </a:p>
          <a:p>
            <a:pPr algn="ctr" defTabSz="914377">
              <a:defRPr/>
            </a:pP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28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3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阶段：复盘优化后推进规模化</a:t>
            </a:r>
            <a:endParaRPr lang="zh-CN" altLang="en-US" sz="14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1379573" y="2265194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1379573" y="4194670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27494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343427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000"/>
              <a:t>价值评估 建议围绕</a:t>
            </a:r>
            <a:r>
              <a:rPr lang="en-US" altLang="zh-CN" sz="1000"/>
              <a:t>ABTest0_1</a:t>
            </a:r>
          </a:p>
          <a:p>
            <a:pPr>
              <a:lnSpc>
                <a:spcPct val="150000"/>
              </a:lnSpc>
            </a:pPr>
            <a:r>
              <a:rPr lang="en-US" altLang="zh-CN" sz="1000"/>
              <a:t>783519287562</a:t>
            </a:r>
            <a:r>
              <a:rPr lang="zh-CN" altLang="en-US" sz="1000"/>
              <a:t>建立统一指标</a:t>
            </a:r>
            <a:r>
              <a:rPr lang="en-US" altLang="zh-CN" sz="1000"/>
              <a:t>...</a:t>
            </a:r>
            <a:endParaRPr sz="100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4F5998B-9E96-8581-A2EF-F68087D42ED0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用关键指标验证收益</a:t>
            </a: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9B818A7-51C5-593B-8693-9011150DC003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下一步决策事项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84E63B4-96AD-9854-EA9A-7811A61B16EF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FC7D8F4-F6CB-DB1D-52D7-BEB7B740895A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DF3AE53-08BE-DCE6-9CBD-895AAF7C1E59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2BB95DA8-4A1E-02B1-BBC9-7A4CEBECB54C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sz="1400"/>
              <a:t>Q&amp;amp;A</a:t>
            </a:r>
            <a:endParaRPr sz="140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/>
              <a:t>内容由</a:t>
            </a:r>
            <a:r>
              <a:rPr lang="en-US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10/10</a:t>
            </a:r>
            <a:endParaRPr sz="140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6929318-B42C-3556-E566-55BA82D4E6DA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谢谢观看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E304041-4829-2B6B-FD17-76068591CCB9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447</Words>
  <Application>Microsoft Office PowerPoint</Application>
  <PresentationFormat>宽屏</PresentationFormat>
  <Paragraphs>56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MiSans Semibold</vt:lpstr>
      <vt:lpstr>MiSans</vt:lpstr>
      <vt:lpstr>MiSans Demibold</vt:lpstr>
      <vt:lpstr>等线 Light</vt:lpstr>
      <vt:lpstr>思源黑体 CN Normal</vt:lpstr>
      <vt:lpstr>Arial</vt:lpstr>
      <vt:lpstr>MiSans Normal</vt:lpstr>
      <vt:lpstr>MiSans ExtraLight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2026-07-08T14:05:27Z</dcterms:modified>
</cp:coreProperties>
</file>