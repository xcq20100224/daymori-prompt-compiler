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Normal" panose="02010600030101010101" charset="-122"/>
      <p:regular r:id="rId17"/>
    </p:embeddedFont>
    <p:embeddedFont>
      <p:font typeface="MiSans Semibold" panose="02010600030101010101" charset="-122"/>
      <p:bold r:id="rId18"/>
    </p:embeddedFont>
    <p:embeddedFont>
      <p:font typeface="等线" panose="02010600030101010101" pitchFamily="2" charset="-122"/>
      <p:regular r:id="rId19"/>
      <p:bold r:id="rId20"/>
    </p:embeddedFont>
    <p:embeddedFont>
      <p:font typeface="等线 Light" panose="02010600030101010101" pitchFamily="2" charset="-122"/>
      <p:regular r:id="rId21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D2D95F-A94F-49E9-BFC8-F7783E2CCAC3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0872F21-7175-4339-9800-FCB52003BFC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488135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客服降本增效方案现状结构图 优先级重排。 图示：</a:t>
            </a:r>
            <a:r>
              <a:rPr lang="en-US" altLang="zh-CN"/>
              <a:t>AI</a:t>
            </a:r>
            <a:r>
              <a:rPr lang="zh-CN" altLang="en-US"/>
              <a:t>客服降本增效方案现状结构图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872F21-7175-4339-9800-FCB52003BFCC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8011144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客服降本增效方案问题分层卡片 流程协同、 执行能力与反馈闭环四个层面。 先聚焦高频高影响环节， 再逐步覆盖复杂场景， 可显著降低试点风险。 图示： </a:t>
            </a:r>
            <a:r>
              <a:rPr lang="en-US" altLang="zh-CN"/>
              <a:t>AI</a:t>
            </a:r>
            <a:r>
              <a:rPr lang="zh-CN" altLang="en-US"/>
              <a:t>客服降本增效方案问题分 层卡片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872F21-7175-4339-9800-FCB52003BFCC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8189458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客服降本增效方案方案架构图 建设， 再通过迭代机制优化质 量， 形成可复制的执行闭环。 图示： </a:t>
            </a:r>
            <a:r>
              <a:rPr lang="en-US" altLang="zh-CN"/>
              <a:t>AI</a:t>
            </a:r>
            <a:r>
              <a:rPr lang="zh-CN" altLang="en-US"/>
              <a:t>客服降本增效方案 方案架构图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872F21-7175-4339-9800-FCB52003BFCC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3295877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872F21-7175-4339-9800-FCB52003BFCC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3843060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成本与稳定性四类指标。 只有当关键指标持续改善，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872F21-7175-4339-9800-FCB52003BFCC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864414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872F21-7175-4339-9800-FCB52003BFCC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511707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en-US" altLang="zh-CN">
                <a:cs typeface="思源黑体 CN Normal" panose="020B0400000000000000" charset="-122"/>
              </a:rPr>
              <a:t>AI</a:t>
            </a:r>
            <a:r>
              <a:rPr lang="zh-CN" altLang="en-US">
                <a:cs typeface="思源黑体 CN Normal" panose="020B0400000000000000" charset="-122"/>
              </a:rPr>
              <a:t>客服降本增效方案</a:t>
            </a: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客服降本增效方案提案汇报 内容由</a:t>
            </a:r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生成</a:t>
            </a:r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1/10</a:t>
            </a:r>
            <a:endParaRPr lang="zh-CN" altLang="en-US" sz="1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endParaRPr lang="zh-CN" altLang="en-US" sz="32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defTabSz="914400">
              <a:lnSpc>
                <a:spcPct val="150000"/>
              </a:lnSpc>
              <a:defRPr/>
            </a:pPr>
            <a:endParaRPr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AD65C144-471C-A885-36F9-242090E7A2D2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客服降本增效方案提案汇报</a:t>
            </a:r>
            <a:r>
              <a:rPr lang="en-US" altLang="zh-CN" sz="1400"/>
              <a:t>AI</a:t>
            </a:r>
            <a:r>
              <a:rPr lang="zh-CN" altLang="en-US" sz="1400"/>
              <a:t>客服降本增效方案提案汇报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13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AI</a:t>
            </a:r>
            <a:r>
              <a:rPr lang="zh-CN" altLang="en-US" sz="13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客服降本增效方案的核心约束与</a:t>
            </a:r>
          </a:p>
          <a:p>
            <a:r>
              <a:rPr lang="zh-CN" altLang="en-US" sz="13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机会</a:t>
            </a:r>
            <a:endParaRPr lang="zh-CN" altLang="en-US" sz="13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2159566" cy="3489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内容由</a:t>
            </a:r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AI</a:t>
            </a:r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生成</a:t>
            </a:r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2/10</a:t>
            </a:r>
            <a:endParaRPr lang="zh-CN" altLang="en-US" sz="1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925BFDB2-4770-6FB0-F521-BA19A18C4235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3BC413CD-12C3-B009-CCD9-F0DDC1FC1E6A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客服降本增效方案的核心约束与机会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>
                <a:cs typeface="思源黑体 CN Normal" panose="020B0400000000000000" charset="-122"/>
              </a:rPr>
              <a:t>现状评估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914377">
              <a:defRPr/>
            </a:pPr>
            <a:r>
              <a:rPr lang="zh-CN" altLang="en-US" sz="13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现状背景</a:t>
            </a:r>
            <a:r>
              <a:rPr lang="en-US" altLang="zh-CN" sz="13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AI</a:t>
            </a:r>
            <a:r>
              <a:rPr lang="zh-CN" altLang="en-US" sz="13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客服降本增效方案当前在目标达成、</a:t>
            </a:r>
          </a:p>
          <a:p>
            <a:pPr algn="ctr" defTabSz="914377">
              <a:defRPr/>
            </a:pPr>
            <a:r>
              <a:rPr lang="zh-CN" altLang="en-US" sz="13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资源配置与执行路径上存在明显瓶颈。若继续沿用现有方式，</a:t>
            </a:r>
          </a:p>
          <a:p>
            <a:pPr algn="ctr" defTabSz="914377">
              <a:defRPr/>
            </a:pPr>
            <a:r>
              <a:rPr lang="zh-CN" altLang="en-US" sz="13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成本、效率与可持续性将同步承压，需要先完成问题分层与</a:t>
            </a:r>
            <a:r>
              <a:rPr lang="en-US" altLang="zh-CN" sz="13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...</a:t>
            </a:r>
            <a:endParaRPr lang="zh-CN" altLang="en-US" sz="1300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1219170">
              <a:lnSpc>
                <a:spcPct val="150000"/>
              </a:lnSpc>
              <a:defRPr/>
            </a:pPr>
            <a:endParaRPr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 defTabSz="914377">
              <a:defRPr/>
            </a:pPr>
            <a:endParaRPr/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369332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zh-CN" altLang="en-US" sz="1400"/>
              <a:t>问题拆解</a:t>
            </a:r>
            <a:endParaRPr sz="140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369332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zh-CN" altLang="en-US" sz="1000"/>
              <a:t>围绕</a:t>
            </a:r>
            <a:r>
              <a:rPr lang="en-US" altLang="zh-CN" sz="1000"/>
              <a:t>AI</a:t>
            </a:r>
            <a:r>
              <a:rPr lang="zh-CN" altLang="en-US" sz="1000"/>
              <a:t>客服降本增效方案可</a:t>
            </a:r>
          </a:p>
          <a:p>
            <a:pPr algn="ctr"/>
            <a:r>
              <a:rPr lang="zh-CN" altLang="en-US" sz="1000"/>
              <a:t>将问题拆为目标定义、</a:t>
            </a:r>
            <a:r>
              <a:rPr lang="en-US" altLang="zh-CN" sz="1000"/>
              <a:t>...</a:t>
            </a:r>
            <a:endParaRPr sz="100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5B4DC720-6337-0830-8806-0995DD9F4F8E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关键问题拆解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D0CBFB3F-8524-58DD-DB86-ECE85E940F9D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zh-CN" altLang="en-US" sz="1000"/>
              <a:t>问题拆解 问题拆解 围绕</a:t>
            </a:r>
            <a:r>
              <a:rPr lang="en-US" altLang="zh-CN" sz="1000"/>
              <a:t>AI</a:t>
            </a:r>
            <a:r>
              <a:rPr lang="zh-CN" altLang="en-US" sz="1000"/>
              <a:t>客服降本增效方案可将问题拆为目标定义、流程协同、执行能力与反馈闭环四个层面。</a:t>
            </a:r>
          </a:p>
          <a:p>
            <a:r>
              <a:rPr lang="zh-CN" altLang="en-US" sz="1000"/>
              <a:t>先聚焦高频高影响环节，再逐步覆盖复杂场景，可显著降低试点风险。</a:t>
            </a:r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wrap="square" lIns="80632" tIns="40316" rIns="80632" bIns="40316" rtlCol="0" anchor="ctr">
            <a:normAutofit/>
          </a:bodyPr>
          <a:lstStyle/>
          <a:p>
            <a:pPr algn="ctr"/>
            <a:r>
              <a:rPr lang="en-US" altLang="zh-CN" sz="1400" kern="0">
                <a:solidFill>
                  <a:sysClr val="window" lastClr="FFFFFF"/>
                </a:solidFill>
                <a:latin typeface="MiSans" panose="00000500000000000000" pitchFamily="2" charset="-122"/>
                <a:ea typeface="MiSans" panose="00000500000000000000" pitchFamily="2" charset="-122"/>
              </a:rPr>
              <a:t>AI</a:t>
            </a:r>
            <a:r>
              <a:rPr lang="zh-CN" altLang="en-US" sz="1400" kern="0">
                <a:solidFill>
                  <a:sysClr val="window" lastClr="FFFFFF"/>
                </a:solidFill>
                <a:latin typeface="MiSans" panose="00000500000000000000" pitchFamily="2" charset="-122"/>
                <a:ea typeface="MiSans" panose="00000500000000000000" pitchFamily="2" charset="-122"/>
              </a:rPr>
              <a:t>客服降本增效方案的分阶段落地方案</a:t>
            </a:r>
            <a:endParaRPr lang="zh-CN" altLang="en-US" sz="1400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/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  <a:r>
              <a:rPr lang="en-US" altLang="zh-CN" sz="1400"/>
              <a:t>5/10</a:t>
            </a:r>
            <a:endParaRPr lang="zh-CN" altLang="en-US" sz="140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43427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/>
              <a:t>方案设计</a:t>
            </a:r>
            <a:endParaRPr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8E6DE22A-D873-B637-337B-F92C005FBB13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客服降本增效方案的分阶段落地方案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客服降本增效方案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方案建议采用“目标对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齐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-</a:t>
            </a:r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能力建设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-</a:t>
            </a:r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效果验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证”三层架构，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先完成基线与关键能力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1A06841F-D678-08A1-DBDA-27B5CB0FB812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方案架构</a:t>
            </a: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>
                <a:cs typeface="思源黑体 CN Normal" panose="020B0400000000000000" charset="-122"/>
              </a:rPr>
              <a:t>三阶段推进试点落地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914377">
              <a:defRPr/>
            </a:pP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实施路径 第</a:t>
            </a:r>
            <a:r>
              <a:rPr lang="en-US" altLang="zh-CN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1</a:t>
            </a: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阶段：明确</a:t>
            </a:r>
            <a:r>
              <a:rPr lang="en-US" altLang="zh-CN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AI</a:t>
            </a: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客服降本增效方案目标与边</a:t>
            </a:r>
          </a:p>
          <a:p>
            <a:pPr algn="ctr" defTabSz="914377">
              <a:defRPr/>
            </a:pP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界 第</a:t>
            </a:r>
            <a:r>
              <a:rPr lang="en-US" altLang="zh-CN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2</a:t>
            </a: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阶段：完成</a:t>
            </a:r>
            <a:r>
              <a:rPr lang="en-US" altLang="zh-CN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AI</a:t>
            </a: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客服降本增效方案试点并跟踪关键</a:t>
            </a:r>
          </a:p>
          <a:p>
            <a:pPr algn="ctr" defTabSz="914377">
              <a:defRPr/>
            </a:pP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第</a:t>
            </a:r>
            <a:r>
              <a:rPr lang="en-US" altLang="zh-CN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3</a:t>
            </a: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阶段：复盘优化后推进规模化</a:t>
            </a:r>
            <a:endParaRPr lang="zh-CN" altLang="en-US" sz="1400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1219170">
              <a:lnSpc>
                <a:spcPct val="150000"/>
              </a:lnSpc>
              <a:defRPr/>
            </a:pPr>
            <a:endParaRPr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 defTabSz="914377">
              <a:defRPr/>
            </a:pPr>
            <a:endParaRPr/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703654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1379573" y="2265194"/>
            <a:ext cx="172355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703654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1379573" y="4194670"/>
            <a:ext cx="172355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274947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630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343427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000"/>
              <a:t>价值评估 建议围绕</a:t>
            </a:r>
            <a:r>
              <a:rPr lang="en-US" altLang="zh-CN" sz="1000"/>
              <a:t>AI</a:t>
            </a:r>
            <a:r>
              <a:rPr lang="zh-CN" altLang="en-US" sz="1000"/>
              <a:t>客服降本增效方</a:t>
            </a:r>
          </a:p>
          <a:p>
            <a:pPr>
              <a:lnSpc>
                <a:spcPct val="150000"/>
              </a:lnSpc>
            </a:pPr>
            <a:r>
              <a:rPr lang="zh-CN" altLang="en-US" sz="1000"/>
              <a:t>案建立统一指标集，至少覆盖效率、质量、</a:t>
            </a:r>
            <a:r>
              <a:rPr lang="en-US" altLang="zh-CN" sz="1000"/>
              <a:t>...</a:t>
            </a:r>
            <a:endParaRPr sz="100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F7FFD1EA-56AE-34D2-BA79-0643FDCD39B5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用关键指标验证收益</a:t>
            </a: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endParaRPr/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endParaRPr/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endParaRPr/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endParaRPr/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68494A82-936F-F09B-2697-0DC01F1FE6A2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下一步决策事项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D10498E0-5A75-0589-30A2-C9D91902B3A1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D02DF5BF-FF4A-189D-C054-AFD4D8139633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DD04BAC0-E1FD-A1F0-6314-13AC59C8BD91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65D257A9-60E1-992B-D43D-760710A5DC88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46564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sz="1400"/>
              <a:t>Q&amp;amp;A</a:t>
            </a:r>
            <a:endParaRPr sz="140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46564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/>
              <a:t>内容由</a:t>
            </a:r>
            <a:r>
              <a:rPr lang="en-US" sz="1400"/>
              <a:t>AI</a:t>
            </a:r>
            <a:r>
              <a:rPr lang="zh-CN" altLang="en-US" sz="1400"/>
              <a:t>生成</a:t>
            </a:r>
            <a:r>
              <a:rPr lang="en-US" altLang="zh-CN" sz="1400"/>
              <a:t>10/10</a:t>
            </a:r>
            <a:endParaRPr sz="140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62CCBC32-A00E-89DA-1D0B-F44078A79028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谢谢观看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94984843-57F5-4D41-457A-8311D22AA4D9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612</Words>
  <Application>Microsoft Office PowerPoint</Application>
  <PresentationFormat>宽屏</PresentationFormat>
  <Paragraphs>57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0" baseType="lpstr">
      <vt:lpstr>MiSans Semibold</vt:lpstr>
      <vt:lpstr>MiSans</vt:lpstr>
      <vt:lpstr>MiSans Demibold</vt:lpstr>
      <vt:lpstr>等线 Light</vt:lpstr>
      <vt:lpstr>思源黑体 CN Normal</vt:lpstr>
      <vt:lpstr>Arial</vt:lpstr>
      <vt:lpstr>MiSans Normal</vt:lpstr>
      <vt:lpstr>MiSans ExtraLight</vt:lpstr>
      <vt:lpstr>等线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2026-07-08T14:02:23Z</dcterms:modified>
</cp:coreProperties>
</file>