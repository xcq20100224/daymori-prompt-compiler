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3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  <p:sldId id="262" r:id="rId12"/>
  </p:sldIdLst>
  <p:sldSz cx="12192000" cy="6858000"/>
  <p:notesSz cx="6858000" cy="9144000"/>
  <p:embeddedFontLst>
    <p:embeddedFont>
      <p:font typeface="MiSans" panose="02010600030101010101" charset="-122"/>
      <p:regular r:id="rId14"/>
      <p:bold r:id="rId15"/>
    </p:embeddedFont>
    <p:embeddedFont>
      <p:font typeface="MiSans Demibold" panose="02010600030101010101" charset="-122"/>
      <p:bold r:id="rId16"/>
    </p:embeddedFont>
    <p:embeddedFont>
      <p:font typeface="MiSans ExtraLight" panose="02010600030101010101" charset="-122"/>
      <p:regular r:id="rId17"/>
    </p:embeddedFont>
    <p:embeddedFont>
      <p:font typeface="MiSans Light" panose="02010600030101010101" charset="-122"/>
      <p:regular r:id="rId18"/>
    </p:embeddedFont>
    <p:embeddedFont>
      <p:font typeface="MiSans Medium" panose="02010600030101010101" charset="-122"/>
      <p:regular r:id="rId19"/>
    </p:embeddedFont>
    <p:embeddedFont>
      <p:font typeface="MiSans Normal" panose="02010600030101010101" charset="-122"/>
      <p:regular r:id="rId20"/>
    </p:embeddedFont>
    <p:embeddedFont>
      <p:font typeface="MiSans Semibold" panose="02010600030101010101" charset="-122"/>
      <p:bold r:id="rId21"/>
    </p:embeddedFont>
    <p:embeddedFont>
      <p:font typeface="等线" panose="02010600030101010101" pitchFamily="2" charset="-122"/>
      <p:regular r:id="rId22"/>
      <p:bold r:id="rId23"/>
    </p:embeddedFont>
    <p:embeddedFont>
      <p:font typeface="等线 Light" panose="02010600030101010101" pitchFamily="2" charset="-122"/>
      <p:regular r:id="rId24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1.fntdata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font" Target="fonts/font10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font" Target="fonts/font9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92B5EF-1D38-486C-B768-5890220FFCC2}" type="datetimeFigureOut">
              <a:rPr lang="zh-CN" altLang="en-US" smtClean="0"/>
              <a:t>2026/7/7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228DDC8-CED8-472C-B9E4-40F4E26CF6A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854572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客服咨询峰值与人力负载对比 人工坐席大量时间消耗在 标准问答， 高峰时段响应时长明显拉 长， 导致服务体验波动与人力 成本同步上升。 对比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28DDC8-CED8-472C-B9E4-40F4E26CF6A3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082318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能力模块分层图 形成可持续优化闭环。 图示：能力模块分层图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28DDC8-CED8-472C-B9E4-40F4E26CF6A3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4086615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知识库生命周期流程图 依据查询日志持续补齐高频缺口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28DDC8-CED8-472C-B9E4-40F4E26CF6A3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8863626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会话路由决策树 附带上下文摘要。 图示：会话路由决策树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28DDC8-CED8-472C-B9E4-40F4E26CF6A3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0641627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三阶段里程碑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28DDC8-CED8-472C-B9E4-40F4E26CF6A3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2819334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跨部门协同看板 跨部门协同看板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28DDC8-CED8-472C-B9E4-40F4E26CF6A3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6067339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KPI</a:t>
            </a:r>
            <a:r>
              <a:rPr lang="zh-CN" altLang="en-US"/>
              <a:t>目标仪表盘 高峰期下降</a:t>
            </a:r>
            <a:r>
              <a:rPr lang="en-US" altLang="zh-CN"/>
              <a:t>25%</a:t>
            </a:r>
            <a:r>
              <a:rPr lang="zh-CN" altLang="en-US"/>
              <a:t>并保持满意度稳定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28DDC8-CED8-472C-B9E4-40F4E26CF6A3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1589825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风险</a:t>
            </a:r>
            <a:r>
              <a:rPr lang="en-US" altLang="zh-CN"/>
              <a:t>-</a:t>
            </a:r>
            <a:r>
              <a:rPr lang="zh-CN" altLang="en-US"/>
              <a:t>措施矩阵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28DDC8-CED8-472C-B9E4-40F4E26CF6A3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4723552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30</a:t>
            </a:r>
            <a:r>
              <a:rPr lang="zh-CN" altLang="en-US"/>
              <a:t>天行动甘特图 每周输出运营复盘， 按数据驱动持续优化策略与知 识资产。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28DDC8-CED8-472C-B9E4-40F4E26CF6A3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108790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6.xml"/><Relationship Id="rId1" Type="http://schemas.openxmlformats.org/officeDocument/2006/relationships/tags" Target="../tags/tag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24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24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客服降本增效方案（新版）</a:t>
            </a:r>
            <a:endParaRPr lang="zh-CN" altLang="en-US" sz="24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2026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下半年执行版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1/11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1AF6FC41-943E-EC33-53C8-824C7AFC3B0F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2026</a:t>
            </a:r>
            <a:r>
              <a:rPr lang="zh-CN" altLang="en-US" sz="1400"/>
              <a:t>下半年执行版</a:t>
            </a:r>
            <a:r>
              <a:rPr lang="en-US" altLang="zh-CN" sz="1400"/>
              <a:t>2026</a:t>
            </a:r>
            <a:r>
              <a:rPr lang="zh-CN" altLang="en-US" sz="1400"/>
              <a:t>下半年执行版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图示：</a:t>
            </a:r>
          </a:p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客服咨询峰值与人力负载</a:t>
            </a:r>
            <a:r>
              <a:rPr lang="en-US" altLang="zh-CN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当前客服体系中重复咨询</a:t>
            </a:r>
          </a:p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占比持续走高</a:t>
            </a:r>
            <a:r>
              <a:rPr lang="en-US" altLang="zh-CN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核心问题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D7806732-2A9B-3287-84D3-FAA41F7539E7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现状痛点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建设思路 新版方案以知识库治理、意图识别增强、工单联动与会话运营为四大抓手，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先覆盖高频标准场景，再逐步扩展到复杂咨询与跨系统协同场景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方案总览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知识库治理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第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2</a:t>
            </a: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阶段：配置知识失效与审核发布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流程 第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3</a:t>
            </a: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阶段：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数据基础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第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阶段：统一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FAQ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口径并建立版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本治理机制</a:t>
            </a: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智能决策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通过意图分类、</a:t>
            </a:r>
          </a:p>
          <a:p>
            <a:pPr algn="ctr">
              <a:lnSpc>
                <a:spcPct val="150000"/>
              </a:lnSpc>
            </a:pPr>
            <a:r>
              <a:rPr lang="zh-CN" altLang="en-US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置信度阈值和多轮上下</a:t>
            </a:r>
          </a:p>
          <a:p>
            <a:pPr algn="ctr">
              <a:lnSpc>
                <a:spcPct val="150000"/>
              </a:lnSpc>
            </a:pPr>
            <a:r>
              <a:rPr lang="zh-CN" altLang="en-US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文判断实现分流：</a:t>
            </a:r>
          </a:p>
          <a:p>
            <a:pPr algn="ctr">
              <a:lnSpc>
                <a:spcPct val="150000"/>
              </a:lnSpc>
            </a:pPr>
            <a:r>
              <a:rPr lang="zh-CN" altLang="en-US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标准问题由</a:t>
            </a:r>
            <a:r>
              <a:rPr lang="en-US" altLang="zh-CN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直答，</a:t>
            </a:r>
          </a:p>
          <a:p>
            <a:pPr algn="ctr">
              <a:lnSpc>
                <a:spcPct val="150000"/>
              </a:lnSpc>
            </a:pPr>
            <a:r>
              <a:rPr lang="zh-CN" altLang="en-US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边界问题触发澄清，</a:t>
            </a:r>
          </a:p>
          <a:p>
            <a:pPr algn="ctr">
              <a:lnSpc>
                <a:spcPct val="150000"/>
              </a:lnSpc>
            </a:pPr>
            <a:r>
              <a:rPr lang="zh-CN" altLang="en-US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复杂问题自动转人工并</a:t>
            </a:r>
            <a:r>
              <a:rPr lang="en-US" altLang="zh-CN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模型与路由策略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3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分阶段推进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第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1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阶段：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梳理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Top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问题并建设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知识库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第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2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阶段：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灰度上线并监控转人工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率 第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3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阶段：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按数据迭代话术与流程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实施路径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治理保障 建立业务、客服、技术三方周会机制，按周复盘命中率、转人工率、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投诉样本与知识更新效率，明确责任人和闭环时限，保证方案落地不偏航。 图示：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组织协同机制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</a:t>
            </a:r>
            <a:r>
              <a:rPr lang="en-US" altLang="zh-CN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KPI</a:t>
            </a: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衡量指标 第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1</a:t>
            </a: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阶段：独立解决率：</a:t>
            </a:r>
          </a:p>
          <a:p>
            <a:pPr>
              <a:lnSpc>
                <a:spcPct val="150000"/>
              </a:lnSpc>
            </a:pP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3</a:t>
            </a: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个月提升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15%</a:t>
            </a: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，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6</a:t>
            </a: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个月提升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20%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第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2</a:t>
            </a: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阶段：平均响应时长：</a:t>
            </a:r>
          </a:p>
          <a:p>
            <a:pPr>
              <a:lnSpc>
                <a:spcPct val="150000"/>
              </a:lnSpc>
            </a:pP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6</a:t>
            </a: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个月降低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35%</a:t>
            </a: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第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3</a:t>
            </a: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阶段：人工负载：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风险与应对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1400">
                <a:latin typeface="MiSans Normal" pitchFamily="2" charset="-122"/>
                <a:ea typeface="MiSans Normal" pitchFamily="2" charset="-122"/>
              </a:rPr>
              <a:t>实施风险</a:t>
            </a: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1400">
                <a:latin typeface="MiSans Normal" pitchFamily="2" charset="-122"/>
                <a:ea typeface="MiSans Normal" pitchFamily="2" charset="-122"/>
              </a:rPr>
              <a:t>针对知识过期、误答扩散和用户体验波动三类风险，</a:t>
            </a:r>
          </a:p>
          <a:p>
            <a:pPr algn="ctr"/>
            <a:r>
              <a:rPr lang="zh-CN" altLang="en-US" sz="1400">
                <a:latin typeface="MiSans Normal" pitchFamily="2" charset="-122"/>
                <a:ea typeface="MiSans Normal" pitchFamily="2" charset="-122"/>
              </a:rPr>
              <a:t>分别设置知识刷新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</a:rPr>
              <a:t>SLA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</a:rPr>
              <a:t>、人工兜底阈值与灰度发布策略，</a:t>
            </a:r>
          </a:p>
          <a:p>
            <a:pPr algn="ctr"/>
            <a:r>
              <a:rPr lang="zh-CN" altLang="en-US" sz="1400">
                <a:latin typeface="MiSans Normal" pitchFamily="2" charset="-122"/>
                <a:ea typeface="MiSans Normal" pitchFamily="2" charset="-122"/>
              </a:rPr>
              <a:t>确保上线期间质量与效率同步受控。 图示：风险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</a:rPr>
              <a:t>-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</a:rPr>
              <a:t>措施矩阵</a:t>
            </a:r>
          </a:p>
          <a:p>
            <a:pPr algn="ctr"/>
            <a:r>
              <a:rPr lang="zh-CN" altLang="en-US" sz="1400"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</a:rPr>
              <a:t>生成</a:t>
            </a: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行动计划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建议本周确定试点渠道与预算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上限，下周完成接口联调排期，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两周内启动灰度上线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下步决策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30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天行动甘特图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Q&amp;amp;A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11/11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谢谢观看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F0547C7-AD86-9706-F7D3-3E4B5F027054}"/>
              </a:ext>
            </a:extLst>
          </p:cNvPr>
          <p:cNvSpPr txBox="1"/>
          <p:nvPr/>
        </p:nvSpPr>
        <p:spPr>
          <a:xfrm>
            <a:off x="1219200" y="3269894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85321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697</Words>
  <Application>Microsoft Office PowerPoint</Application>
  <PresentationFormat>宽屏</PresentationFormat>
  <Paragraphs>103</Paragraphs>
  <Slides>11</Slides>
  <Notes>9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23" baseType="lpstr">
      <vt:lpstr>MiSans Semibold</vt:lpstr>
      <vt:lpstr>MiSans</vt:lpstr>
      <vt:lpstr>MiSans Demibold</vt:lpstr>
      <vt:lpstr>MiSans Light</vt:lpstr>
      <vt:lpstr>思源黑体 CN Normal</vt:lpstr>
      <vt:lpstr>等线</vt:lpstr>
      <vt:lpstr>MiSans Normal</vt:lpstr>
      <vt:lpstr>MiSans Medium</vt:lpstr>
      <vt:lpstr>MiSans ExtraLight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2026-07-07T03:21:56Z</dcterms:modified>
</cp:coreProperties>
</file>