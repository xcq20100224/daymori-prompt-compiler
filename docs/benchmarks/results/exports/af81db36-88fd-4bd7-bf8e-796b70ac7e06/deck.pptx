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FE3D93-47FF-4EAA-B002-496857B6028B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BEB890-7469-47F6-B364-440AD16914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48139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ABTest0_1783519138351</a:t>
            </a:r>
            <a:r>
              <a:rPr lang="zh-CN" altLang="en-US"/>
              <a:t>现状结构图 需要先完成问题分层与优先级重排。 图示： </a:t>
            </a:r>
            <a:r>
              <a:rPr lang="en-US" altLang="zh-CN"/>
              <a:t>ABTest0_1783519138351</a:t>
            </a:r>
            <a:r>
              <a:rPr lang="zh-CN" altLang="en-US"/>
              <a:t>现状结</a:t>
            </a:r>
            <a:r>
              <a:rPr lang="en-US" altLang="zh-CN"/>
              <a:t>… </a:t>
            </a:r>
            <a:r>
              <a:rPr lang="zh-CN" altLang="en-US"/>
              <a:t>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BEB890-7469-47F6-B364-440AD16914C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55130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ABTest0_1783519138351</a:t>
            </a:r>
            <a:r>
              <a:rPr lang="zh-CN" altLang="en-US"/>
              <a:t>问题分层卡片 题拆为目标定义、流程协同、 执行能力与反馈闭环四个层面。 先聚焦高频高影响环节， 再逐步覆盖复杂场景， 可显著降低试点风险。 图示： </a:t>
            </a:r>
            <a:r>
              <a:rPr lang="en-US" altLang="zh-CN"/>
              <a:t>ABTest0_17835 19138351</a:t>
            </a:r>
            <a:r>
              <a:rPr lang="zh-CN" altLang="en-US"/>
              <a:t>问题分</a:t>
            </a:r>
            <a:r>
              <a:rPr lang="en-US" altLang="zh-CN"/>
              <a:t>… </a:t>
            </a:r>
            <a:r>
              <a:rPr lang="zh-CN" altLang="en-US"/>
              <a:t>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BEB890-7469-47F6-B364-440AD16914C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45802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ABTest0_1783519138351</a:t>
            </a:r>
            <a:r>
              <a:rPr lang="zh-CN" altLang="en-US"/>
              <a:t>方案架构图 先完成基线与关键能力 建设， 再通过迭代机制优化质 量， 形成可复制的执行闭环。 图示： </a:t>
            </a:r>
            <a:r>
              <a:rPr lang="en-US" altLang="zh-CN"/>
              <a:t>ABTest0_17 8351913835 1</a:t>
            </a:r>
            <a:r>
              <a:rPr lang="zh-CN" altLang="en-US"/>
              <a:t>方案架</a:t>
            </a:r>
            <a:r>
              <a:rPr lang="en-US" altLang="zh-CN"/>
              <a:t>… </a:t>
            </a:r>
            <a:r>
              <a:rPr lang="zh-CN" altLang="en-US"/>
              <a:t>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BEB890-7469-47F6-B364-440AD16914C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4224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BEB890-7469-47F6-B364-440AD16914C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35561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集，至少覆盖效率、质量、 成本与稳定性四类指标。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BEB890-7469-47F6-B364-440AD16914C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1179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BEB890-7469-47F6-B364-440AD16914C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02660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US" altLang="zh-CN">
                <a:cs typeface="思源黑体 CN Normal" panose="020B0400000000000000" charset="-122"/>
              </a:rPr>
              <a:t>ABTest0_1783519138351</a:t>
            </a:r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ABTest0_1783519138351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提案汇报 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1/10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ABTest0_17835191</a:t>
            </a:r>
          </a:p>
          <a:p>
            <a:r>
              <a:rPr lang="en-US" altLang="zh-CN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38351</a:t>
            </a:r>
            <a:r>
              <a:rPr lang="zh-CN" altLang="en-US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的核心</a:t>
            </a:r>
            <a:r>
              <a:rPr lang="en-US" altLang="zh-CN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…</a:t>
            </a:r>
            <a:endParaRPr lang="zh-CN" altLang="en-US" sz="13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2/10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38A08908-AA58-DBFA-F602-4E9657F8C5A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1D6D519-BB47-F91E-0A5D-765B812F5004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ABTest0_1783519138351</a:t>
            </a:r>
            <a:r>
              <a:rPr lang="zh-CN" altLang="en-US" sz="1400"/>
              <a:t>的核心</a:t>
            </a:r>
            <a:r>
              <a:rPr lang="en-US" altLang="zh-CN" sz="1400"/>
              <a:t>…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现状评估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现状背景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ABTest0_1783519138351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当前在目标达成、资源配置与执行路径上存在明显瓶颈。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若继续沿用现有方式，成本、效率与可持续性将同步承压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...</a:t>
            </a: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400"/>
              <a:t>问题拆解</a:t>
            </a:r>
            <a:endParaRPr sz="14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000"/>
              <a:t>围绕</a:t>
            </a:r>
            <a:r>
              <a:rPr lang="en-US" sz="1000"/>
              <a:t>ABTest0_178</a:t>
            </a:r>
          </a:p>
          <a:p>
            <a:pPr algn="ctr"/>
            <a:r>
              <a:rPr lang="en-US" sz="1000"/>
              <a:t>3519138351</a:t>
            </a:r>
            <a:r>
              <a:rPr lang="zh-CN" altLang="en-US" sz="1000"/>
              <a:t>可将问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82D98A2-C1BF-C346-C6F1-ED784A49068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关键问题拆解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D78631D-50CC-74FA-1B01-4BC72CEDC608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问题拆解 问题拆解 围绕</a:t>
            </a:r>
            <a:r>
              <a:rPr lang="en-US" altLang="zh-CN" sz="1000"/>
              <a:t>ABTest0_1783519138351</a:t>
            </a:r>
            <a:r>
              <a:rPr lang="zh-CN" altLang="en-US" sz="1000"/>
              <a:t>可将问题拆为目标定义、流程协同、</a:t>
            </a:r>
          </a:p>
          <a:p>
            <a:r>
              <a:rPr lang="zh-CN" altLang="en-US" sz="1000"/>
              <a:t>执行能力与反馈闭环四个层面。先聚焦高频高影响环节，再逐步覆盖复杂场景，可显著降低试点风险。</a:t>
            </a:r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square" lIns="80632" tIns="40316" rIns="80632" bIns="40316" rtlCol="0" anchor="ctr">
            <a:normAutofit/>
          </a:bodyPr>
          <a:lstStyle/>
          <a:p>
            <a:pPr algn="ctr"/>
            <a:r>
              <a:rPr lang="en-US" altLang="zh-CN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ABTest0_1783519138351</a:t>
            </a:r>
            <a:r>
              <a:rPr lang="zh-CN" altLang="en-US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的分阶</a:t>
            </a:r>
            <a:r>
              <a:rPr lang="en-US" altLang="zh-CN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…</a:t>
            </a:r>
            <a:endParaRPr lang="zh-CN" altLang="en-US" sz="1400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5/10</a:t>
            </a:r>
            <a:endParaRPr lang="zh-CN" altLang="en-US" sz="14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43427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/>
              <a:t>方案设计</a:t>
            </a: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7B78466-837A-012A-CC69-00714451949A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ABTest0_1783519138351</a:t>
            </a:r>
            <a:r>
              <a:rPr lang="zh-CN" altLang="en-US" sz="1400"/>
              <a:t>的分阶</a:t>
            </a:r>
            <a:r>
              <a:rPr lang="en-US" altLang="zh-CN" sz="1400"/>
              <a:t>…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ABTest0_17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8351913835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/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方案建议采用“目标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对齐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能力建设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效果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验证”三层架构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48C9E3C-01FE-2AD1-27C3-30EFAC5B9E4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方案架构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三阶段推进试点落地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实施路径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1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阶段：明确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ABTest0_178351</a:t>
            </a:r>
          </a:p>
          <a:p>
            <a:pPr algn="ctr" defTabSz="914377">
              <a:defRPr/>
            </a:pP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913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2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阶段：完成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ABTest0_1783519</a:t>
            </a:r>
          </a:p>
          <a:p>
            <a:pPr algn="ctr" defTabSz="914377">
              <a:defRPr/>
            </a:pP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13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3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阶段：复盘优化后推进规模化</a:t>
            </a: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1379573" y="22651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1379573" y="419467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34342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000"/>
              <a:t>价值评估 建议围绕</a:t>
            </a:r>
            <a:r>
              <a:rPr lang="en-US" altLang="zh-CN" sz="1000"/>
              <a:t>ABTest0_1</a:t>
            </a:r>
          </a:p>
          <a:p>
            <a:pPr>
              <a:lnSpc>
                <a:spcPct val="150000"/>
              </a:lnSpc>
            </a:pPr>
            <a:r>
              <a:rPr lang="en-US" altLang="zh-CN" sz="1000"/>
              <a:t>783519138351</a:t>
            </a:r>
            <a:r>
              <a:rPr lang="zh-CN" altLang="en-US" sz="1000"/>
              <a:t>建立统一指标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6EBAC6A-C5F6-0C0A-913B-CC68D2B32B06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用关键指标验证收益</a:t>
            </a: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B5F0086-413B-D596-79B3-BE2384115A3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下一步决策事项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38D1A9E-314B-E149-EB4B-B75F08AA6652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AEC381E-A520-8FEE-0317-B1F1DF7151AA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E7184EF-3976-3C62-2B47-815987357F93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D64042A-A94C-999A-7BB7-755D4294EB71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sz="1400"/>
              <a:t>Q&amp;amp;A</a:t>
            </a:r>
            <a:endParaRPr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/>
              <a:t>内容由</a:t>
            </a:r>
            <a:r>
              <a:rPr lang="en-US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10/10</a:t>
            </a:r>
            <a:endParaRPr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AD4A069-C789-888C-F13E-17DCDCA55CF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谢谢观看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8B9E4A3-3E2B-8D9E-BD23-C7F299C4B59F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447</Words>
  <Application>Microsoft Office PowerPoint</Application>
  <PresentationFormat>宽屏</PresentationFormat>
  <Paragraphs>56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MiSans Semibold</vt:lpstr>
      <vt:lpstr>MiSans</vt:lpstr>
      <vt:lpstr>MiSans Demibold</vt:lpstr>
      <vt:lpstr>等线 Light</vt:lpstr>
      <vt:lpstr>思源黑体 CN Normal</vt:lpstr>
      <vt:lpstr>Arial</vt:lpstr>
      <vt:lpstr>MiSans Normal</vt:lpstr>
      <vt:lpstr>MiSans ExtraLight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2026-07-08T14:00:56Z</dcterms:modified>
</cp:coreProperties>
</file>