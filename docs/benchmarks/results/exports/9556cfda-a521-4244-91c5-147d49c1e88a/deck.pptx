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733C519-6425-449B-8540-E23C049FBD5D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6B38E0-AA91-4D93-8A99-FC3B195C8F2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9902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ABTest0_1783518985543</a:t>
            </a:r>
            <a:r>
              <a:rPr lang="zh-CN" altLang="en-US"/>
              <a:t>现状结构图 需要先完成问题分层与优先级重排。 图示： </a:t>
            </a:r>
            <a:r>
              <a:rPr lang="en-US" altLang="zh-CN"/>
              <a:t>ABTest0_1783518985543</a:t>
            </a:r>
            <a:r>
              <a:rPr lang="zh-CN" altLang="en-US"/>
              <a:t>现状结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B38E0-AA91-4D93-8A99-FC3B195C8F27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68047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ABTest0_1783518985543</a:t>
            </a:r>
            <a:r>
              <a:rPr lang="zh-CN" altLang="en-US"/>
              <a:t>问题分层卡片 题拆为目标定义、流程协同、 执行能力与反馈闭环四个层面。 先聚焦高频高影响环节， 再逐步覆盖复杂场景， 可显著降低试点风险。 图示： </a:t>
            </a:r>
            <a:r>
              <a:rPr lang="en-US" altLang="zh-CN"/>
              <a:t>ABTest0_17835 18985543</a:t>
            </a:r>
            <a:r>
              <a:rPr lang="zh-CN" altLang="en-US"/>
              <a:t>问题分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B38E0-AA91-4D93-8A99-FC3B195C8F27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12635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ABTest0_1783518985543</a:t>
            </a:r>
            <a:r>
              <a:rPr lang="zh-CN" altLang="en-US"/>
              <a:t>方案架构图 先完成基线与关键能力 建设， 再通过迭代机制优化质 量， 形成可复制的执行闭环。 图示： </a:t>
            </a:r>
            <a:r>
              <a:rPr lang="en-US" altLang="zh-CN"/>
              <a:t>ABTest0_17 8351898554 3</a:t>
            </a:r>
            <a:r>
              <a:rPr lang="zh-CN" altLang="en-US"/>
              <a:t>方案架</a:t>
            </a:r>
            <a:r>
              <a:rPr lang="en-US" altLang="zh-CN"/>
              <a:t>… </a:t>
            </a:r>
            <a:r>
              <a:rPr lang="zh-CN" altLang="en-US"/>
              <a:t>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B38E0-AA91-4D93-8A99-FC3B195C8F27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9216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B38E0-AA91-4D93-8A99-FC3B195C8F27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974639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集，至少覆盖效率、质量、 成本与稳定性四类指标。 只有当关键指标持续改善，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B38E0-AA91-4D93-8A99-FC3B195C8F27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058160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6B38E0-AA91-4D93-8A99-FC3B195C8F27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3021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>
                <a:cs typeface="思源黑体 CN Normal" panose="020B0400000000000000" charset="-122"/>
              </a:rPr>
              <a:t>ABTest0_1783518985543</a:t>
            </a:r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ABTest0_1783518985543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提案汇报 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1/10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ABTest0_17835189</a:t>
            </a:r>
          </a:p>
          <a:p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85543</a:t>
            </a:r>
            <a:r>
              <a:rPr lang="zh-CN" altLang="en-US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的核心</a:t>
            </a:r>
            <a:r>
              <a:rPr lang="en-US" altLang="zh-CN" sz="13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…</a:t>
            </a:r>
            <a:endParaRPr lang="zh-CN" altLang="en-US" sz="13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内容由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AI</a:t>
            </a:r>
            <a:r>
              <a:rPr lang="zh-CN" altLang="en-US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生成</a:t>
            </a:r>
            <a:r>
              <a:rPr lang="en-US" altLang="zh-CN" sz="1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2/10</a:t>
            </a:r>
            <a:endParaRPr lang="zh-CN" altLang="en-US" sz="1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25F7B2D0-09E4-74A7-14DE-0EE5D4D469A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F8DFC452-0B53-1610-3D24-61F9C6253AA1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ABTest0_1783518985543</a:t>
            </a:r>
            <a:r>
              <a:rPr lang="zh-CN" altLang="en-US" sz="1400"/>
              <a:t>的核心</a:t>
            </a:r>
            <a:r>
              <a:rPr lang="en-US" altLang="zh-CN" sz="1400"/>
              <a:t>…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现状评估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现状背景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ABTest0_1783518985543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当前在目标达成、资源配置与执行路径上存在明显瓶颈。</a:t>
            </a:r>
          </a:p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若继续沿用现有方式，成本、效率与可持续性将同步承压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...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400"/>
              <a:t>问题拆解</a:t>
            </a:r>
            <a:endParaRPr sz="140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369332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1000"/>
              <a:t>围绕</a:t>
            </a:r>
            <a:r>
              <a:rPr lang="en-US" sz="1000"/>
              <a:t>ABTest0_178</a:t>
            </a:r>
          </a:p>
          <a:p>
            <a:pPr algn="ctr"/>
            <a:r>
              <a:rPr lang="en-US" sz="1000"/>
              <a:t>3518985543</a:t>
            </a:r>
            <a:r>
              <a:rPr lang="zh-CN" altLang="en-US" sz="1000"/>
              <a:t>可将问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DABF5B3-A5B1-8B6E-9AB5-0EA6EA7FD69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关键问题拆解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9DED8F2-AFAD-0497-C07E-DDBA1B1E3B84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围绕</a:t>
            </a:r>
            <a:r>
              <a:rPr lang="en-US" altLang="zh-CN" sz="1000"/>
              <a:t>ABTest0_1783518985543</a:t>
            </a:r>
            <a:r>
              <a:rPr lang="zh-CN" altLang="en-US" sz="1000"/>
              <a:t>可将问题拆为目标定义、流程协同、</a:t>
            </a:r>
          </a:p>
          <a:p>
            <a:r>
              <a:rPr lang="zh-CN" altLang="en-US" sz="1000"/>
              <a:t>执行能力与反馈闭环四个层面。先聚焦高频高影响环节，再逐步覆盖复杂场景，可显著降低试点风险。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wrap="square" lIns="80632" tIns="40316" rIns="80632" bIns="40316" rtlCol="0" anchor="ctr">
            <a:normAutofit/>
          </a:bodyPr>
          <a:lstStyle/>
          <a:p>
            <a:pPr algn="ctr"/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ABTest0_1783518985543</a:t>
            </a:r>
            <a:r>
              <a:rPr lang="zh-CN" altLang="en-US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的分阶</a:t>
            </a:r>
            <a:r>
              <a:rPr lang="en-US" altLang="zh-CN" sz="1400" kern="0">
                <a:solidFill>
                  <a:sysClr val="window" lastClr="FFFFFF"/>
                </a:solidFill>
                <a:latin typeface="MiSans" panose="00000500000000000000" pitchFamily="2" charset="-122"/>
                <a:ea typeface="MiSans" panose="00000500000000000000" pitchFamily="2" charset="-122"/>
              </a:rPr>
              <a:t>…</a:t>
            </a:r>
            <a:endParaRPr lang="zh-CN" altLang="en-US" sz="1400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5/10</a:t>
            </a:r>
            <a:endParaRPr lang="zh-CN" altLang="en-US" sz="140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43427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/>
              <a:t>方案设计</a:t>
            </a:r>
            <a:endParaRPr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5D030EA-E8C8-6D6F-0CAA-A2CD6D311200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ABTest0_1783518985543</a:t>
            </a:r>
            <a:r>
              <a:rPr lang="zh-CN" altLang="en-US" sz="1400"/>
              <a:t>的分阶</a:t>
            </a:r>
            <a:r>
              <a:rPr lang="en-US" altLang="zh-CN" sz="1400"/>
              <a:t>…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ABTest0_17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8351898554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/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方案建议采用“目标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对齐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能力建设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效果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验证”三层架构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E88A932-B54E-063B-487A-CBAF368B8E7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方案架构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三阶段推进试点落地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914377">
              <a:defRPr/>
            </a:pP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实施路径 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1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阶段：明确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ABTest0_178351</a:t>
            </a:r>
          </a:p>
          <a:p>
            <a:pPr algn="ctr" defTabSz="914377">
              <a:defRPr/>
            </a:pP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898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2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阶段：完成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ABTest0_1783518</a:t>
            </a:r>
          </a:p>
          <a:p>
            <a:pPr algn="ctr" defTabSz="914377">
              <a:defRPr/>
            </a:pP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98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第</a:t>
            </a:r>
            <a:r>
              <a:rPr lang="en-US" altLang="zh-CN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3</a:t>
            </a:r>
            <a:r>
              <a:rPr lang="zh-CN" altLang="en-US" sz="1400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阶段：复盘优化后推进规模化</a:t>
            </a:r>
            <a:endParaRPr lang="zh-CN" altLang="en-US" sz="1400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1219170">
              <a:lnSpc>
                <a:spcPct val="150000"/>
              </a:lnSpc>
              <a:defRPr/>
            </a:pPr>
            <a:endParaRPr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 defTabSz="914377">
              <a:defRPr/>
            </a:pPr>
            <a:endParaRPr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1379573" y="2265194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70365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1379573" y="4194670"/>
            <a:ext cx="172355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274947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343427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000"/>
              <a:t>价值评估 建议围绕</a:t>
            </a:r>
            <a:r>
              <a:rPr lang="en-US" altLang="zh-CN" sz="1000"/>
              <a:t>ABTest0_1</a:t>
            </a:r>
          </a:p>
          <a:p>
            <a:pPr>
              <a:lnSpc>
                <a:spcPct val="150000"/>
              </a:lnSpc>
            </a:pPr>
            <a:r>
              <a:rPr lang="en-US" altLang="zh-CN" sz="1000"/>
              <a:t>783518985543</a:t>
            </a:r>
            <a:r>
              <a:rPr lang="zh-CN" altLang="en-US" sz="1000"/>
              <a:t>建立统一指标</a:t>
            </a:r>
            <a:r>
              <a:rPr lang="en-US" altLang="zh-CN" sz="1000"/>
              <a:t>...</a:t>
            </a:r>
            <a:endParaRPr sz="100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3D1C37D-EE8A-9824-7B8C-5B1A702C7039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用关键指标验证收益</a:t>
            </a: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CDAC802-E3A1-0806-074E-9980E3CA5C7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下一步决策事项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FAF0B3F-5641-52B0-EC6A-11FADAAF8126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9A9AAAC-F0CB-5DDB-4CC6-EDC891C7CEDD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BD4E45C6-2D2F-8A04-5C99-322FA4941D8C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2D3907F7-2565-7090-0981-16F5F149940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/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sz="1400"/>
              <a:t>Q&amp;amp;A</a:t>
            </a:r>
            <a:endParaRPr sz="1400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46564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/>
              <a:t>内容由</a:t>
            </a:r>
            <a:r>
              <a:rPr lang="en-US" sz="1400"/>
              <a:t>AI</a:t>
            </a:r>
            <a:r>
              <a:rPr lang="zh-CN" altLang="en-US" sz="1400"/>
              <a:t>生成</a:t>
            </a:r>
            <a:r>
              <a:rPr lang="en-US" altLang="zh-CN" sz="1400"/>
              <a:t>10/10</a:t>
            </a:r>
            <a:endParaRPr sz="140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6954138-D8DF-B294-A2D2-8AE5D02A042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谢谢观看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46D87FCE-A89B-6AF8-01D9-CD37C4D24F52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447</Words>
  <Application>Microsoft Office PowerPoint</Application>
  <PresentationFormat>宽屏</PresentationFormat>
  <Paragraphs>56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MiSans Demibold</vt:lpstr>
      <vt:lpstr>思源黑体 CN Normal</vt:lpstr>
      <vt:lpstr>MiSans Normal</vt:lpstr>
      <vt:lpstr>等线 Light</vt:lpstr>
      <vt:lpstr>Arial</vt:lpstr>
      <vt:lpstr>MiSans ExtraLight</vt:lpstr>
      <vt:lpstr>MiSans Semibold</vt:lpstr>
      <vt:lpstr>等线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2026-07-08T13:56:35Z</dcterms:modified>
</cp:coreProperties>
</file>