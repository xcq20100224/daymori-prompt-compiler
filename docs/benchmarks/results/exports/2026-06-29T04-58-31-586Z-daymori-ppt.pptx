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475488"/>
            <a:ext cx="11064240" cy="182880"/>
          </a:xfrm>
          <a:prstGeom prst="rect">
            <a:avLst/>
          </a:prstGeom>
          <a:solidFill>
            <a:srgbClr val="2D6CD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classroom-teaching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40680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481328"/>
            <a:ext cx="99669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9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导入：情境导入｜从运动到力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引出加速度与力的定性关系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9966960" cy="1143000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315968"/>
            <a:ext cx="9555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关键要点：结论：力是改变物体运动状态的原因 ｜ 证据：小车在光滑平面速度从0变2m/s需施加0.5N推力 ｜ 行动：提问“操场上足球踢出后为何减速？”本节前3min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266944"/>
            <a:ext cx="9966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本页结论：引出加速度与力的定性关系；关键抓手：结论：力是改变物体运动状态的原因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1/20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导入：学习目标｜本节目标导航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目标：建立牛顿第二定律的认知路径并明确应用标准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本页结论：建立牛顿第二定律的认知路径并明确应用标准；关键抓手：结论：力、质量、加速度三者成比例关系，核心公式F=ma。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结论：力、质量、加速度三者成比例关系，核心公式F=ma。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证据：课本实测数据：m=2kg时，a=0.5m/s²对应F=1N；a=1.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行动：前3分钟板书展示本页目标，并强调公式中F、m、a的单位一致性；建议在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结论：力、质量、加速度三者成比例关系，核心公...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证据：课本实测数据：m=2kg时，a=0.5...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行动：前3分钟板书展示本页目标，并强调公式中...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板书目标清单（含公式F=ma及单位换算提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演讲备注：先结论、后依据、再行动建议，控制在60-90秒。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概念：概念定义｜牛顿第二定律内容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目标：理解定律的文字表述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本页结论：理解定律的文字表述；关键抓手：结论：物体加速度与合外力成正比，与质量成反比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结论：物体加速度与合外力成正比，与质量成反比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证据：相同拉力下m=1kg a=2m/s², m=2kg a=1m/s²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行动：请一名学生朗读定律，本节5min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结论：物体加速度与合外力成正比，与质量成反比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证据：相同拉力下m=1kg a=2m/s²,...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行动：请一名学生朗读定律，本节5min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定律文字框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质量-加速度对比表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演讲备注：强调比例关系，避免混淆比例和反比例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概念：公式结构｜公式F=ma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目标：建立公式与各物理量的映射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本页结论：建立公式与各物理量的映射；关键抓手：结论：F→合力(N), m→质量(kg), a→加速度(m/s²)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结论：F→合力(N), m→质量(kg), a→加速度(m/s²)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证据：1N=1kg·m/s² 单位推导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行动：板演公式各字母含义，本节7min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结论：F→合力(N), m→质量(kg), 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证据：1N=1kg·m/s² 单位推导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行动：板演公式各字母含义，本节7min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公式F=ma动画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单位换算表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演讲备注：强调F是合力，单位统一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概念：单位量纲｜力的单位牛顿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目标：理解1N的物理含义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本页结论：理解1N的物理含义；关键抓手：结论：使1kg物体产生1m/s²加速度的力为1N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结论：使1kg物体产生1m/s²加速度的力为1N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证据：2kg物体获得2m/s²需4N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行动：提问“0.5kg苹果落地加速度？”，本节8min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结论：使1kg物体产生1m/s²加速度的力为...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证据：2kg物体获得2m/s²需4N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行动：提问“0.5kg苹果落地加速度？”，本...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1N力感受图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演讲备注：结合生活实例，让学生用手感受1N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概念：适用条件｜质量与惯性的关系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目标：区分质量和惯性的概念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本页结论：区分质量和惯性的概念；关键抓手：结论：质量越大，惯性越大，运动状态越难改变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结论：质量越大，惯性越大，运动状态越难改变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证据：空车vs满载车，相同制动力下减速距离差3.2m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行动：让学生举例生活中惯性现象，本节10min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结论：质量越大，惯性越大，运动状态越难改变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证据：空车vs满载车，相同制动力下减速距离差...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行动：让学生举例生活中惯性现象，本节10mi...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货车刹车对比图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演讲备注：联系生活场景，解释质量是惯性量度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实验：实验目的｜受力分析与合力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目标：学会合力的矢量合成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本页结论：学会合力的矢量合成；关键抓手：结论：同向力相加，反向力相减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结论：同向力相加，反向力相减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证据：水平拉力10N，摩擦力3N，合力7N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行动：板演一个简单受力分析图，本节12min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结论：同向力相加，反向力相减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证据：水平拉力10N，摩擦力3N，合力7N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行动：板演一个简单受力分析图，本节12min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水平桌面物体受力图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演讲备注：强调方向性，箭头标注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7/20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实验：控制变量｜例题1：水平拉力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目标：应用F=ma计算水平运动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本页结论：应用F=ma计算水平运动；关键抓手：结论：物体质量4kg，受20N力，a=5m/s²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结论：物体质量4kg，受20N力，a=5m/s²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证据：F=20N, m=4kg, 得a=5m/s²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行动：学生板演计算过程，本节15min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结论：物体质量4kg，受20N力，a=5m/...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证据：F=20N, m=4kg, 得a=5m...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行动：学生板演计算过程，本节15min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例题1题干及图示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演讲备注：观察学生单位是否统一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实验：数据记录｜例题2：斜面问题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目标：拓展到斜面受力分析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本页结论：拓展到斜面受力分析；关键抓手：结论：光滑斜面倾角30°，下滑加速度4.9m/s²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结论：光滑斜面倾角30°，下滑加速度4.9m/s²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证据：a=g·sin30°=9.8×0.5=4.9m/s²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行动：分组讨论-斜面受力，本节18min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结论：光滑斜面倾角30°，下滑加速度4.9m...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证据：a=g·sin30°=9.8×0.5=...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行动：分组讨论-斜面受力，本节18min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课堂动作：第9页可安排30秒提问+60秒板演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斜面物体受力分解图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演讲备注：引导分解重力沿斜面和垂直斜面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实验：结论提炼｜实验：控制变量法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目标：通过实验验证a与F、m关系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本页结论：通过实验验证a与F、m关系；关键抓手：结论：保持m不变，F增大2倍，a增大2倍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结论：保持m不变，F增大2倍，a增大2倍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证据：m=0.5kg，F1=2N时a1=4m/s²；F2=4N时a2=8m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行动：演示实验并记录数据，本节22min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结论：保持m不变，F增大2倍，a增大2倍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证据：m=0.5kg，F1=2N时a1=4m...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行动：演示实验并记录数据，本节22min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课堂动作：第10页可安排30秒提问+60秒板演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气垫导轨实验装置图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22311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数据记录表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演讲备注：强调控制变量，减少摩擦影响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例题：基础例题｜实验数据分析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目标：处理实验数据得到线性关系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本页结论：处理实验数据得到线性关系；关键抓手：结论：a-F图像为过原点直线，斜率1/m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结论：a-F图像为过原点直线，斜率1/m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证据：m=0.5kg时斜率为2(1/0.5)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行动：指导学生作图，本节25min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结论：a-F图像为过原点直线，斜率1/m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证据：m=0.5kg时斜率为2(1/0.5)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行动：指导学生作图，本节25min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课堂动作：第11页可安排30秒提问+60秒板演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空白坐标纸模板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演讲备注：横坐标力，纵坐标加速度，标度合适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例题：中档例题｜牛顿第二定律的瞬时性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目标：理解力与加速度瞬时对应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本页结论：理解力与加速度瞬时对应；关键抓手：结论：力变则加速度瞬时改变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结论：力变则加速度瞬时改变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证据：撤去推力后，物体加速度瞬间为零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行动：演示瞬间撤力小车运动，本节28min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结论：力变则加速度瞬时改变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证据：撤去推力后，物体加速度瞬间为零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行动：演示瞬间撤力小车运动，本节28min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课堂动作：第12页可安排30秒提问+60秒板演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小车瞬时运动动图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演讲备注：对比恒力与变力情况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例题：综合例题｜正交分解法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目标：掌握复杂受力时分解技巧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本页结论：掌握复杂受力时分解技巧；关键抓手：结论：将力分解到x和y方向分别计算合力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结论：将力分解到x和y方向分别计算合力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证据：30°斜向上拉力20N，Fx≈17.3N，Fy=10N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行动：板演分解过程，本节30min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结论：将力分解到x和y方向分别计算合力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证据：30°斜向上拉力20N，Fx≈17.3...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行动：板演分解过程，本节30min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课堂动作：第13页可安排30秒提问+60秒板演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正交分解示意图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演讲备注：强调三角函数使用，初中可用直角三角形比例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例题：步骤拆解｜连接体问题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目标：培养整体法和隔离法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本页结论：培养整体法和隔离法；关键抓手：结论：两物体通过绳子连接，整体加速度相同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结论：两物体通过绳子连接，整体加速度相同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证据：m1=2kg, m2=1kg, F=6N, a=2m/s²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行动：练习整体法求加速度，本节33min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结论：两物体通过绳子连接，整体加速度相同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证据：m1=2kg, m2=1kg, F=6...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行动：练习整体法求加速度，本节33min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课堂动作：第14页可安排30秒提问+60秒板演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滑轮连接体图示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演讲备注：先整体后隔离，注意绳子张力大小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易错：易错点1｜课堂练习1：基础计算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目标：巩固F=ma直接应用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本页结论：巩固F=ma直接应用；关键抓手：结论：质量3kg，加速度4m/s²，所需合力12N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结论：质量3kg，加速度4m/s²，所需合力12N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证据：3×4=12N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行动：学生独立完成练习，本节35min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结论：质量3kg，加速度4m/s²，所需合力...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证据：3×4=12N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行动：学生独立完成练习，本节35min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课堂动作：第15页可安排30秒提问+60秒板演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练习题题干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演讲备注：巡视学生答题情况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易错：易错点2｜课堂练习2：多力问题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目标：训练多个力合力下的计算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本页结论：训练多个力合力下的计算；关键抓手：结论：物体受10N和6N同向，再受4N反向，合力12N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结论：物体受10N和6N同向，再受4N反向，合力12N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证据：10+6-4=12N, m=4kg→a=3m/s²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行动：练习并互相批改，本节38min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结论：物体受10N和6N同向，再受4N反向，...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证据：10+6-4=12N, m=4kg→a...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行动：练习并互相批改，本节38min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课堂动作：第16页可安排30秒提问+60秒板演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多力方向示意图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演讲备注：提醒先求合力大小和方向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16/20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练习：当堂练习｜易错点辨析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目标：纠正常见误解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本页结论：纠正常见误解；关键抓手：结论：a与F成正比，与m成反比不等同于F与a成正比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结论：a与F成正比，与m成反比不等同于F与a成正比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证据：质量增加，加速度减半但力未变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行动：提问“m增大，a一定减小吗？”本节40min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结论：a与F成正比，与m成反比不等同于F与a...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证据：质量增加，加速度减半但力未变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行动：提问“m增大，a一定减小吗？”本节40...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课堂动作：第17页可安排30秒提问+60秒板演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正反比例辨析表格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演讲备注：举例说明前提条件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17/20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练习：分层巩固｜本节知识总结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目标：梳理核心概念与公式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本页结论：梳理核心概念与公式；关键抓手：结论：牛顿第二定律F=ma是力与运动桥梁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结论：牛顿第二定律F=ma是力与运动桥梁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证据：三要素：内容、公式、单位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行动：学生口头总结关键点，本节42min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结论：牛顿第二定律F=ma是力与运动桥梁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证据：三要素：内容、公式、单位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行动：学生口头总结关键点，本节42min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课堂动作：第18页可安排30秒提问+60秒板演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097280" y="4315968"/>
            <a:ext cx="6355080" cy="0"/>
          </a:xfrm>
          <a:prstGeom prst="line">
            <a:avLst/>
          </a:prstGeom>
          <a:noFill/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438912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知识树结构图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演讲备注：鼓励学生用自己的话复述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18/20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小结：知识小结｜课后作业布置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目标：布置分层作业巩固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本页结论：布置分层作业巩固；关键抓手：结论：完成课本P45第3、4题，选做第5题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结论：完成课本P45第3、4题，选做第5题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证据：第3题F=12N,m=4kg求a=3m/s²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行动：明确截止时间，课后完成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结论：完成课本P45第3、4题，选做第5题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证据：第3题F=12N,m=4kg求a=3m...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行动：明确截止时间，课后完成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课堂动作：第19页可安排30秒提问+60秒板演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作业题截图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演讲备注：强调独立思考，下周检查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19/20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75488"/>
            <a:ext cx="11064240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74980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2A5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小结：作业拓展｜预习下节提示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0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686800" y="713232"/>
            <a:ext cx="2377440" cy="438912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3104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目标：预告牛顿第三定律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1389888"/>
            <a:ext cx="6876288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481328"/>
            <a:ext cx="6355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本页结论：预告牛顿第三定律；关键抓手：结论：下节学习作用和反作用力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097280" y="188366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27632" y="199339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结论：下节学习作用和反作用力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97280" y="2615184"/>
            <a:ext cx="6355080" cy="603504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25296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27632" y="272491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证据：用手推墙，感觉墙也在推手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3346704"/>
            <a:ext cx="6355080" cy="603504"/>
          </a:xfrm>
          <a:prstGeom prst="roundRect">
            <a:avLst/>
          </a:prstGeom>
          <a:solidFill>
            <a:srgbClr val="F1F6FF"/>
          </a:solidFill>
          <a:ln w="12700">
            <a:solidFill>
              <a:srgbClr val="C8D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627632" y="345643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行动：让学生回家体验推墙感受，下节讨论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01000" y="1389888"/>
            <a:ext cx="3035808" cy="3566160"/>
          </a:xfrm>
          <a:prstGeom prst="roundRect">
            <a:avLst/>
          </a:prstGeom>
          <a:solidFill>
            <a:srgbClr val="E7F0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6093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建议素材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结论：下节学习作用和反作用力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证据：用手推墙，感觉墙也在推手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行动：让学生回家体验推墙感受，下节讨论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课堂动作：第20页可安排30秒提问+60秒板演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092440" y="5047488"/>
            <a:ext cx="2926080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47888" y="5230368"/>
            <a:ext cx="2606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管理层决策请求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批准试点预算与跨部门协同机制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0" y="19202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3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推墙示意图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68680" y="5047488"/>
            <a:ext cx="10168128" cy="877824"/>
          </a:xfrm>
          <a:prstGeom prst="roundRect">
            <a:avLst/>
          </a:prstGeom>
          <a:solidFill>
            <a:srgbClr val="DCE8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5340096"/>
            <a:ext cx="98023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65B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演讲备注：激发好奇心，联系生活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9BB8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初二物理：牛顿第二定律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20/20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初二物理：牛顿第二定律 - classroom-teaching</dc:title>
  <dc:subject>classroom-teaching</dc:subject>
  <dc:creator>Daymori</dc:creator>
  <cp:lastModifiedBy>Daymori</cp:lastModifiedBy>
  <cp:revision>1</cp:revision>
  <dcterms:created xsi:type="dcterms:W3CDTF">2026-06-29T04:58:31Z</dcterms:created>
  <dcterms:modified xsi:type="dcterms:W3CDTF">2026-06-29T04:58:31Z</dcterms:modified>
</cp:coreProperties>
</file>