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DAB1FC-3EC6-4D97-A7DC-89D86E675DBE}" type="datetimeFigureOut">
              <a:rPr lang="zh-CN" altLang="en-US" smtClean="0"/>
              <a:t>2026/7/3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C74C11-8D5B-46EC-AB65-4DC868EDE8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86123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 </a:t>
            </a:r>
            <a:r>
              <a:rPr lang="en-US" altLang="zh-CN"/>
              <a:t>• </a:t>
            </a:r>
            <a:r>
              <a:rPr lang="zh-CN" altLang="en-US"/>
              <a:t>行动：本节先做受力判断再套公式，</a:t>
            </a:r>
            <a:r>
              <a:rPr lang="en-US" altLang="zh-CN"/>
              <a:t>5</a:t>
            </a:r>
            <a:r>
              <a:rPr lang="zh-CN" altLang="en-US"/>
              <a:t>分钟内完成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C74C11-8D5B-46EC-AB65-4DC868EDE8C6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20616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C74C11-8D5B-46EC-AB65-4DC868EDE8C6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18410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 </a:t>
            </a:r>
            <a:r>
              <a:rPr lang="en-US" altLang="zh-CN"/>
              <a:t>• </a:t>
            </a:r>
            <a:r>
              <a:rPr lang="zh-CN" altLang="en-US"/>
              <a:t>证据：当</a:t>
            </a:r>
            <a:r>
              <a:rPr lang="en-US" altLang="zh-CN"/>
              <a:t>F=12N,m=3kg</a:t>
            </a:r>
            <a:r>
              <a:rPr lang="zh-CN" altLang="en-US"/>
              <a:t>时</a:t>
            </a:r>
            <a:r>
              <a:rPr lang="en-US" altLang="zh-CN"/>
              <a:t>a=4m/s² • </a:t>
            </a:r>
            <a:r>
              <a:rPr lang="zh-CN" altLang="en-US"/>
              <a:t>行动：完成</a:t>
            </a:r>
            <a:r>
              <a:rPr lang="en-US" altLang="zh-CN"/>
              <a:t>2</a:t>
            </a:r>
            <a:r>
              <a:rPr lang="zh-CN" altLang="en-US"/>
              <a:t>题单位换算并互评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C74C11-8D5B-46EC-AB65-4DC868EDE8C6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60240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C74C11-8D5B-46EC-AB65-4DC868EDE8C6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45965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C74C11-8D5B-46EC-AB65-4DC868EDE8C6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60403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C74C11-8D5B-46EC-AB65-4DC868EDE8C6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32958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 </a:t>
            </a:r>
            <a:r>
              <a:rPr lang="en-US" altLang="zh-CN"/>
              <a:t>• </a:t>
            </a:r>
            <a:r>
              <a:rPr lang="zh-CN" altLang="en-US"/>
              <a:t>行动：独立完成同型题并核对单位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C74C11-8D5B-46EC-AB65-4DC868EDE8C6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79627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 </a:t>
            </a:r>
            <a:r>
              <a:rPr lang="en-US" altLang="zh-CN"/>
              <a:t>m=2kg</a:t>
            </a:r>
            <a:r>
              <a:rPr lang="zh-CN" altLang="en-US"/>
              <a:t>时</a:t>
            </a:r>
            <a:r>
              <a:rPr lang="en-US" altLang="zh-CN"/>
              <a:t>a=3m/s² • </a:t>
            </a:r>
            <a:r>
              <a:rPr lang="zh-CN" altLang="en-US"/>
              <a:t>行动：小组讨论正方向并给出完整步 骤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C74C11-8D5B-46EC-AB65-4DC868EDE8C6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6417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C74C11-8D5B-46EC-AB65-4DC868EDE8C6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67056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C74C11-8D5B-46EC-AB65-4DC868EDE8C6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43921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ExtraLight" pitchFamily="2" charset="-122"/>
                <a:ea typeface="MiSans ExtraLight" pitchFamily="2" charset="-122"/>
                <a:cs typeface="+mn-ea"/>
                <a:sym typeface="+mn-lt"/>
              </a:rPr>
              <a:t>LOGO</a:t>
            </a: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工作总结汇报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5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情境导入：为什么会加速</a:t>
            </a:r>
            <a:endParaRPr lang="zh-CN" altLang="en-US" sz="25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用生活案例建立合力与加速度关系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结论：物体加速源于合力不为零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证据：同质量车受推力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2N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与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4N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时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约成倍变化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600" dirty="0">
                <a:solidFill>
                  <a:schemeClr val="accent2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CONTENT</a:t>
            </a:r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项目成果展示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未来工作规划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283161C3-4230-6FF4-50F5-214B76743A26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定律表述与符号定义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375309DE-68FC-9B9C-DC53-0E572F45B361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明确牛顿第二定律的文字与数学表达 明确牛顿第二定律的文字与数学表达 </a:t>
            </a:r>
            <a:r>
              <a:rPr lang="en-US" altLang="zh-CN" sz="1000"/>
              <a:t>• </a:t>
            </a:r>
            <a:r>
              <a:rPr lang="zh-CN" altLang="en-US" sz="1000"/>
              <a:t>结论：牛顿第二定律核心是</a:t>
            </a:r>
            <a:r>
              <a:rPr lang="en-US" altLang="zh-CN" sz="1000"/>
              <a:t>F=ma</a:t>
            </a:r>
          </a:p>
          <a:p>
            <a:r>
              <a:rPr lang="en-US" altLang="zh-CN" sz="1000"/>
              <a:t>• </a:t>
            </a:r>
            <a:r>
              <a:rPr lang="zh-CN" altLang="en-US" sz="1000"/>
              <a:t>证据：单位关系</a:t>
            </a:r>
            <a:r>
              <a:rPr lang="en-US" altLang="zh-CN" sz="1000"/>
              <a:t>1N=1kg·m/s²...</a:t>
            </a:r>
            <a:endParaRPr lang="zh-CN" altLang="en-US" sz="1000"/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掌握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F=ma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、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a=F/m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、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m=F/a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三式互化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三式等价但适用已知量不同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公式变形与单位换算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01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受力分析四步法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701AC48-DF2C-3360-C73C-8698DD736F83}"/>
              </a:ext>
            </a:extLst>
          </p:cNvPr>
          <p:cNvSpPr txBox="1"/>
          <p:nvPr/>
        </p:nvSpPr>
        <p:spPr>
          <a:xfrm>
            <a:off x="1219200" y="445632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建立先受力图后列式的解题流程 建立先受力图后列式的解题流程 </a:t>
            </a:r>
            <a:r>
              <a:rPr lang="en-US" altLang="zh-CN" sz="1000"/>
              <a:t>• </a:t>
            </a:r>
            <a:r>
              <a:rPr lang="zh-CN" altLang="en-US" sz="1000"/>
              <a:t>结论：解题顺序是选对象</a:t>
            </a:r>
            <a:r>
              <a:rPr lang="en-US" altLang="zh-CN" sz="1000"/>
              <a:t>-</a:t>
            </a:r>
            <a:r>
              <a:rPr lang="zh-CN" altLang="en-US" sz="1000"/>
              <a:t>画图</a:t>
            </a:r>
            <a:r>
              <a:rPr lang="en-US" altLang="zh-CN" sz="1000"/>
              <a:t>-</a:t>
            </a:r>
            <a:r>
              <a:rPr lang="zh-CN" altLang="en-US" sz="1000"/>
              <a:t>定正向</a:t>
            </a:r>
            <a:r>
              <a:rPr lang="en-US" altLang="zh-CN" sz="1000"/>
              <a:t>-</a:t>
            </a:r>
            <a:r>
              <a:rPr lang="zh-CN" altLang="en-US" sz="1000"/>
              <a:t>列合力</a:t>
            </a:r>
          </a:p>
          <a:p>
            <a:r>
              <a:rPr lang="en-US" altLang="zh-CN" sz="1000"/>
              <a:t>• </a:t>
            </a:r>
            <a:r>
              <a:rPr lang="zh-CN" altLang="en-US" sz="1000"/>
              <a:t>证据：水平拉箱子例中</a:t>
            </a:r>
            <a:r>
              <a:rPr lang="en-US" altLang="zh-CN" sz="1000"/>
              <a:t>F</a:t>
            </a:r>
            <a:r>
              <a:rPr lang="zh-CN" altLang="en-US" sz="1000"/>
              <a:t>合</a:t>
            </a:r>
            <a:r>
              <a:rPr lang="en-US" altLang="zh-CN" sz="1000"/>
              <a:t>=F</a:t>
            </a:r>
            <a:r>
              <a:rPr lang="zh-CN" altLang="en-US" sz="1000"/>
              <a:t>拉</a:t>
            </a:r>
            <a:r>
              <a:rPr lang="en-US" altLang="zh-CN" sz="1000"/>
              <a:t>-f...</a:t>
            </a:r>
            <a:endParaRPr lang="zh-CN" altLang="en-US" sz="1000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控制变量实验设计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3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78B0389-3CFA-FDD4-2354-590F1AF3C827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理解加速度与力、质量的定量关系 理解加速度与力、质量的定量关系 </a:t>
            </a:r>
            <a:r>
              <a:rPr lang="en-US" altLang="zh-CN" sz="1000"/>
              <a:t>• </a:t>
            </a:r>
            <a:r>
              <a:rPr lang="zh-CN" altLang="en-US" sz="1000"/>
              <a:t>结论：质量定时</a:t>
            </a:r>
            <a:r>
              <a:rPr lang="en-US" altLang="zh-CN" sz="1000"/>
              <a:t>a</a:t>
            </a:r>
            <a:r>
              <a:rPr lang="zh-CN" altLang="en-US" sz="1000"/>
              <a:t>与</a:t>
            </a:r>
            <a:r>
              <a:rPr lang="en-US" altLang="zh-CN" sz="1000"/>
              <a:t>F</a:t>
            </a:r>
            <a:r>
              <a:rPr lang="zh-CN" altLang="en-US" sz="1000"/>
              <a:t>成正比</a:t>
            </a:r>
          </a:p>
          <a:p>
            <a:r>
              <a:rPr lang="en-US" altLang="zh-CN" sz="1000"/>
              <a:t>• </a:t>
            </a:r>
            <a:r>
              <a:rPr lang="zh-CN" altLang="en-US" sz="1000"/>
              <a:t>证据：</a:t>
            </a:r>
            <a:r>
              <a:rPr lang="en-US" altLang="zh-CN" sz="1000"/>
              <a:t>F</a:t>
            </a:r>
            <a:r>
              <a:rPr lang="zh-CN" altLang="en-US" sz="1000"/>
              <a:t>从</a:t>
            </a:r>
            <a:r>
              <a:rPr lang="en-US" altLang="zh-CN" sz="1000"/>
              <a:t>1N</a:t>
            </a:r>
            <a:r>
              <a:rPr lang="zh-CN" altLang="en-US" sz="1000"/>
              <a:t>到</a:t>
            </a:r>
            <a:r>
              <a:rPr lang="en-US" altLang="zh-CN" sz="1000"/>
              <a:t>3N</a:t>
            </a:r>
            <a:r>
              <a:rPr lang="zh-CN" altLang="en-US" sz="1000"/>
              <a:t>时</a:t>
            </a:r>
            <a:r>
              <a:rPr lang="en-US" altLang="zh-CN" sz="1000"/>
              <a:t>a</a:t>
            </a:r>
            <a:r>
              <a:rPr lang="zh-CN" altLang="en-US" sz="1000"/>
              <a:t>可由</a:t>
            </a:r>
            <a:r>
              <a:rPr lang="en-US" altLang="zh-CN" sz="1000"/>
              <a:t>0.5</a:t>
            </a:r>
            <a:r>
              <a:rPr lang="zh-CN" altLang="en-US" sz="1000"/>
              <a:t>到</a:t>
            </a:r>
            <a:r>
              <a:rPr lang="en-US" altLang="zh-CN" sz="1000"/>
              <a:t>1.5m/s²...</a:t>
            </a:r>
            <a:endParaRPr lang="zh-CN" altLang="en-US" sz="1000"/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实验数据与图像解读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E73F15D-902B-4D8C-6CD6-F7310716EFFD}"/>
              </a:ext>
            </a:extLst>
          </p:cNvPr>
          <p:cNvSpPr txBox="1"/>
          <p:nvPr/>
        </p:nvSpPr>
        <p:spPr>
          <a:xfrm>
            <a:off x="1219200" y="187360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从数据图读出正比和反比关系 从数据图读出正比和反比关系 </a:t>
            </a:r>
            <a:r>
              <a:rPr lang="en-US" altLang="zh-CN" sz="1000"/>
              <a:t>• </a:t>
            </a:r>
            <a:r>
              <a:rPr lang="zh-CN" altLang="en-US" sz="1000"/>
              <a:t>结论：力</a:t>
            </a:r>
            <a:r>
              <a:rPr lang="en-US" altLang="zh-CN" sz="1000"/>
              <a:t>-</a:t>
            </a:r>
            <a:r>
              <a:rPr lang="zh-CN" altLang="en-US" sz="1000"/>
              <a:t>加速度图近似过原点直线</a:t>
            </a:r>
          </a:p>
          <a:p>
            <a:r>
              <a:rPr lang="en-US" altLang="zh-CN" sz="1000"/>
              <a:t>• </a:t>
            </a:r>
            <a:r>
              <a:rPr lang="zh-CN" altLang="en-US" sz="1000"/>
              <a:t>证据：同组实验</a:t>
            </a:r>
            <a:r>
              <a:rPr lang="en-US" altLang="zh-CN" sz="1000"/>
              <a:t>R²</a:t>
            </a:r>
            <a:r>
              <a:rPr lang="zh-CN" altLang="en-US" sz="1000"/>
              <a:t>接近</a:t>
            </a:r>
            <a:r>
              <a:rPr lang="en-US" altLang="zh-CN" sz="1000"/>
              <a:t>1</a:t>
            </a:r>
            <a:r>
              <a:rPr lang="zh-CN" altLang="en-US" sz="1000"/>
              <a:t>时线性更明显</a:t>
            </a:r>
            <a:r>
              <a:rPr lang="en-US" altLang="zh-CN" sz="1000"/>
              <a:t>...</a:t>
            </a:r>
            <a:endParaRPr lang="zh-CN" altLang="en-US" sz="1000"/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掌握标准代入与单位检查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结论：求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时先算合力再除以质量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F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合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=9N,m=1.5kg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得到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a=6m/s²...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例题一：已知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F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和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m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求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02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例题二：含摩擦力综合题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能在多力情境下正确列合力方程 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结论：加速度由合力决定而非拉力单独决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定</a:t>
            </a:r>
          </a:p>
          <a:p>
            <a:pPr>
              <a:lnSpc>
                <a:spcPct val="150000"/>
              </a:lnSpc>
            </a:pP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证据：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F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拉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10N,f=4N...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易错点与纠偏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请在此输入您的文字内容或者粘贴复制的文本到此处，请在此输入您的文字内容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>输入标题</a:t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请在此输入您的文字内容或者粘贴复制的文本到此处，请在此输入您的文字内容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输入标题</a:t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请在此输入您的文字内容或者粘贴复制的文本到此处，请在此输入您的文字内容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输入标题</a:t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请在此输入您的文字内容或者粘贴复制的文本到此处，请在此输入您的文字内容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>输入标题</a:t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E771A99-B23F-2A93-2914-A9DE9D9E51B4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识别常见误区并建立自检清单 识别常见误区并建立自检清单 </a:t>
            </a:r>
            <a:r>
              <a:rPr lang="en-US" altLang="zh-CN" sz="1000"/>
              <a:t>• </a:t>
            </a:r>
            <a:r>
              <a:rPr lang="zh-CN" altLang="en-US" sz="1000"/>
              <a:t>结论：最常见错误是把合力当单个力</a:t>
            </a:r>
          </a:p>
          <a:p>
            <a:r>
              <a:rPr lang="en-US" altLang="zh-CN" sz="1000"/>
              <a:t>• </a:t>
            </a:r>
            <a:r>
              <a:rPr lang="zh-CN" altLang="en-US" sz="1000"/>
              <a:t>证据：错例中漏减摩擦力导致</a:t>
            </a:r>
            <a:r>
              <a:rPr lang="en-US" altLang="zh-CN" sz="1000"/>
              <a:t>a</a:t>
            </a:r>
            <a:r>
              <a:rPr lang="zh-CN" altLang="en-US" sz="1000"/>
              <a:t>偏大</a:t>
            </a:r>
            <a:r>
              <a:rPr lang="en-US" altLang="zh-CN" sz="1000"/>
              <a:t>33%...</a:t>
            </a:r>
            <a:endParaRPr lang="zh-CN" altLang="en-US" sz="1000"/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课堂练习与作业拓展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8845780-27D4-4723-7028-917E491AACC7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完成分层训练并迁移到生活场景 完成分层训练并迁移到生活场景 </a:t>
            </a:r>
            <a:r>
              <a:rPr lang="en-US" altLang="zh-CN" sz="1000"/>
              <a:t>• </a:t>
            </a:r>
            <a:r>
              <a:rPr lang="zh-CN" altLang="en-US" sz="1000"/>
              <a:t>结论：会做题的标志是能解释每一步物理意义</a:t>
            </a:r>
          </a:p>
          <a:p>
            <a:r>
              <a:rPr lang="en-US" altLang="zh-CN" sz="1000"/>
              <a:t>• </a:t>
            </a:r>
            <a:r>
              <a:rPr lang="zh-CN" altLang="en-US" sz="1000"/>
              <a:t>证据：基础题正确率目标</a:t>
            </a:r>
            <a:r>
              <a:rPr lang="en-US" altLang="zh-CN" sz="1000"/>
              <a:t>80%</a:t>
            </a:r>
            <a:r>
              <a:rPr lang="zh-CN" altLang="en-US" sz="1000"/>
              <a:t>，提升题目标</a:t>
            </a:r>
            <a:r>
              <a:rPr lang="en-US" altLang="zh-CN" sz="1000"/>
              <a:t>60%...</a:t>
            </a:r>
            <a:endParaRPr lang="zh-CN" altLang="en-US" sz="1000"/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 nodePh="1">
                                  <p:stCondLst>
                                    <p:cond delay="2200"/>
                                  </p:stCondLst>
                                  <p:endCondLst>
                                    <p:cond evt="begin" delay="0">
                                      <p:tn val="4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762</Words>
  <Application>Microsoft Office PowerPoint</Application>
  <PresentationFormat>宽屏</PresentationFormat>
  <Paragraphs>84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Medium</vt:lpstr>
      <vt:lpstr>等线</vt:lpstr>
      <vt:lpstr>MiSans ExtraLight</vt:lpstr>
      <vt:lpstr>MiSans Semibold</vt:lpstr>
      <vt:lpstr>等线 Light</vt:lpstr>
      <vt:lpstr>MiSans</vt:lpstr>
      <vt:lpstr>MiSans Demibold</vt:lpstr>
      <vt:lpstr>Arial</vt:lpstr>
      <vt:lpstr>MiSans Light</vt:lpstr>
      <vt:lpstr>思源黑体 CN Normal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2026-07-03T01:36:09Z</dcterms:modified>
</cp:coreProperties>
</file>