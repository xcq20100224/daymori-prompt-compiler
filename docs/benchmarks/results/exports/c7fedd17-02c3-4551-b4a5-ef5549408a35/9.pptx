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  <p:sldId id="474" r:id="rId10"/>
    <p:sldId id="915" r:id="rId11"/>
  </p:sldIdLst>
  <p:sldSz cx="12192000" cy="6858000"/>
  <p:notesSz cx="6858000" cy="9144000"/>
  <p:embeddedFontLst>
    <p:embeddedFont>
      <p:font typeface="MiSans" panose="02010600030101010101" charset="-122"/>
      <p:regular r:id="rId13"/>
      <p:bold r:id="rId14"/>
    </p:embeddedFont>
    <p:embeddedFont>
      <p:font typeface="MiSans Demibold" panose="02010600030101010101" charset="-122"/>
      <p:bold r:id="rId15"/>
    </p:embeddedFont>
    <p:embeddedFont>
      <p:font typeface="MiSans ExtraLight" panose="02010600030101010101" charset="-122"/>
      <p:regular r:id="rId16"/>
    </p:embeddedFont>
    <p:embeddedFont>
      <p:font typeface="MiSans Light" panose="02010600030101010101" charset="-122"/>
      <p:regular r:id="rId17"/>
    </p:embeddedFont>
    <p:embeddedFont>
      <p:font typeface="MiSans Medium" panose="02010600030101010101" charset="-122"/>
      <p:regular r:id="rId18"/>
    </p:embeddedFont>
    <p:embeddedFont>
      <p:font typeface="MiSans Normal" panose="02010600030101010101" charset="-122"/>
      <p:regular r:id="rId19"/>
    </p:embeddedFont>
    <p:embeddedFont>
      <p:font typeface="MiSans Semibold" panose="02010600030101010101" charset="-122"/>
      <p:bold r:id="rId20"/>
    </p:embeddedFont>
    <p:embeddedFont>
      <p:font typeface="等线" panose="02010600030101010101" pitchFamily="2" charset="-122"/>
      <p:regular r:id="rId21"/>
      <p:bold r:id="rId22"/>
    </p:embeddedFont>
    <p:embeddedFont>
      <p:font typeface="等线 Light" panose="02010600030101010101" pitchFamily="2" charset="-122"/>
      <p:regular r:id="rId23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font" Target="fonts/font11.fntdata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font" Target="fonts/font10.fntdata"/><Relationship Id="rId2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A44957E-2CC8-47BD-9471-DD7CCE6A90A7}" type="datetimeFigureOut">
              <a:rPr lang="zh-CN" altLang="en-US" smtClean="0"/>
              <a:t>2026/7/6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145636C-1D39-477D-A8BE-AF110E893E1D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416233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客服工作量结构图 和服务稳定性仍难保障。 图示：客服工作量结构图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5636C-1D39-477D-A8BE-AF110E893E1D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8608765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高频问题分类卡片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5636C-1D39-477D-A8BE-AF110E893E1D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93058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AI</a:t>
            </a:r>
            <a:r>
              <a:rPr lang="zh-CN" altLang="en-US"/>
              <a:t>客服能力架构图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5636C-1D39-477D-A8BE-AF110E893E1D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5917953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阶段里程碑流程图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5636C-1D39-477D-A8BE-AF110E893E1D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20972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试点指标仪表盘 才进入规模化推广。 图示： 试点指标仪表盘 内容由</a:t>
            </a:r>
            <a:r>
              <a:rPr lang="en-US" altLang="zh-CN"/>
              <a:t>AI</a:t>
            </a:r>
            <a:r>
              <a:rPr lang="zh-CN" altLang="en-US"/>
              <a:t>生成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5636C-1D39-477D-A8BE-AF110E893E1D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662911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决策事项清单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145636C-1D39-477D-A8BE-AF110E893E1D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7385141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2026/7/6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en-US" altLang="zh-CN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AI</a:t>
            </a:r>
            <a:r>
              <a:rPr lang="zh-CN" altLang="en-US" sz="30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客服降本增效方案</a:t>
            </a:r>
            <a:endParaRPr lang="zh-CN" altLang="en-US" sz="30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r" defTabSz="914400">
              <a:lnSpc>
                <a:spcPct val="150000"/>
              </a:lnSpc>
              <a:defRPr/>
            </a:pP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79263164-4E50-24B3-8C65-B60E1EC588A3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现状与问题</a:t>
            </a: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2033F58-0C87-1DAC-BABA-9B489997BFDC}"/>
              </a:ext>
            </a:extLst>
          </p:cNvPr>
          <p:cNvSpPr txBox="1"/>
          <p:nvPr/>
        </p:nvSpPr>
        <p:spPr>
          <a:xfrm>
            <a:off x="1219200" y="3020949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先明确压力来源 先明确压力来源 先明确压力来源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4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现状背景 随着咨询量、售后问题和服务渠道持续增加，人工客服长期承担重复问答、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订单查询与进度解释工作。排班、培训与质检成本持续抬升，但高峰时段的响应速度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客服成本压力正在上升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高频问题适合优先自动化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256C20DF-1949-D80E-23E9-24B5BEF9D111}"/>
              </a:ext>
            </a:extLst>
          </p:cNvPr>
          <p:cNvSpPr txBox="1"/>
          <p:nvPr/>
        </p:nvSpPr>
        <p:spPr>
          <a:xfrm>
            <a:off x="1219200" y="445632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问题拆解 问题拆解 售前咨询、订单状态、退换货政策与基础售后进度通常具备标准答案，适合由</a:t>
            </a:r>
            <a:r>
              <a:rPr lang="en-US" altLang="zh-CN" sz="1000"/>
              <a:t>AI</a:t>
            </a:r>
            <a:r>
              <a:rPr lang="zh-CN" altLang="en-US" sz="1000"/>
              <a:t>客服优先承接。</a:t>
            </a:r>
          </a:p>
          <a:p>
            <a:r>
              <a:rPr lang="zh-CN" altLang="en-US" sz="1000"/>
              <a:t>人工团队应聚焦投诉处理、复杂异常与高价值客户沟通，以提升整体服务质量。</a:t>
            </a:r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endParaRPr kumimoji="0" lang="zh-CN" altLang="en-US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方案设计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2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82C26091-C960-EADB-7A37-0F220DAD2688}"/>
              </a:ext>
            </a:extLst>
          </p:cNvPr>
          <p:cNvSpPr txBox="1"/>
          <p:nvPr/>
        </p:nvSpPr>
        <p:spPr>
          <a:xfrm>
            <a:off x="1219200" y="164592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能力与实施并行 能力与实施并行 能力与实施并行</a:t>
            </a: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en-US" altLang="zh-CN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AI</a:t>
            </a: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客服能力分层建设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B15842F-9A0E-C045-2EE5-3DB1D6F336CE}"/>
              </a:ext>
            </a:extLst>
          </p:cNvPr>
          <p:cNvSpPr txBox="1"/>
          <p:nvPr/>
        </p:nvSpPr>
        <p:spPr>
          <a:xfrm>
            <a:off x="1219200" y="1873606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Autofit/>
          </a:bodyPr>
          <a:lstStyle/>
          <a:p>
            <a:r>
              <a:rPr lang="zh-CN" altLang="en-US" sz="1000"/>
              <a:t>方案设计 方案设计 方案以知识库、意图识别、多轮对话、工单联动与人工转接为核心能力，先覆盖标准化问答场景，</a:t>
            </a:r>
          </a:p>
          <a:p>
            <a:r>
              <a:rPr lang="zh-CN" altLang="en-US" sz="1000"/>
              <a:t>再逐步接入质检分析与运营报表，形成可持续优化的服务闭环。</a:t>
            </a: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6003635" y="2449763"/>
            <a:ext cx="184730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实施路径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1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阶段梳理高频问题并建设知识库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阶段接入客服系统并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灰度上线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第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阶段根据命中率持续优化运营</a:t>
            </a:r>
            <a:endParaRPr lang="en-US" altLang="zh-CN" sz="14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  <a:cs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三阶段推进试点落地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4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用关键指标验证收益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>
              <a:solidFill>
                <a:schemeClr val="bg1">
                  <a:lumMod val="50000"/>
                </a:schemeClr>
              </a:solidFill>
              <a:latin typeface="MiSans Light" pitchFamily="2" charset="-122"/>
              <a:ea typeface="MiSans Light" pitchFamily="2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价值评估 试点阶段建议重点跟踪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AI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独立解决率、转人工率、平均响应时长、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人工客服负载与客户满意度。</a:t>
            </a:r>
          </a:p>
          <a:p>
            <a:pPr>
              <a:lnSpc>
                <a:spcPct val="150000"/>
              </a:lnSpc>
            </a:pPr>
            <a:r>
              <a:rPr lang="zh-CN" altLang="en-US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只有当效率提升与体验稳定同时成立</a:t>
            </a:r>
            <a:r>
              <a:rPr lang="en-US" altLang="zh-CN" sz="13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3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矩形 37">
            <a:extLst>
              <a:ext uri="{FF2B5EF4-FFF2-40B4-BE49-F238E27FC236}">
                <a16:creationId xmlns:a16="http://schemas.microsoft.com/office/drawing/2014/main" id="{B0D4623B-1AAF-4809-6E23-1F5D5E882BC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1" name="任意多边形: 形状 40">
            <a:extLst>
              <a:ext uri="{FF2B5EF4-FFF2-40B4-BE49-F238E27FC236}">
                <a16:creationId xmlns:a16="http://schemas.microsoft.com/office/drawing/2014/main" id="{B2FE6276-FB59-A202-C9EB-0CF3F538ADD4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FA1F870-1FA1-4B6B-E6AE-245B8E26BC1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下一步决策事项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154DBFD6-4B84-AF49-8886-53F797E8C855}"/>
              </a:ext>
            </a:extLst>
          </p:cNvPr>
          <p:cNvSpPr/>
          <p:nvPr/>
        </p:nvSpPr>
        <p:spPr>
          <a:xfrm>
            <a:off x="993224" y="2635735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" name="组合 3">
            <a:extLst>
              <a:ext uri="{FF2B5EF4-FFF2-40B4-BE49-F238E27FC236}">
                <a16:creationId xmlns:a16="http://schemas.microsoft.com/office/drawing/2014/main" id="{A1C09C6B-CC1F-DA4D-A97E-AF40FD5FBC88}"/>
              </a:ext>
            </a:extLst>
          </p:cNvPr>
          <p:cNvGrpSpPr/>
          <p:nvPr/>
        </p:nvGrpSpPr>
        <p:grpSpPr>
          <a:xfrm>
            <a:off x="2191905" y="2759017"/>
            <a:ext cx="3334847" cy="961022"/>
            <a:chOff x="1331921" y="3382460"/>
            <a:chExt cx="3334847" cy="961022"/>
          </a:xfrm>
        </p:grpSpPr>
        <p:sp>
          <p:nvSpPr>
            <p:cNvPr id="9" name="文本框 8">
              <a:extLst>
                <a:ext uri="{FF2B5EF4-FFF2-40B4-BE49-F238E27FC236}">
                  <a16:creationId xmlns:a16="http://schemas.microsoft.com/office/drawing/2014/main" id="{8DA92CEC-4240-314A-B2DC-57CFB17B2D2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0" name="文本框 9">
              <a:extLst>
                <a:ext uri="{FF2B5EF4-FFF2-40B4-BE49-F238E27FC236}">
                  <a16:creationId xmlns:a16="http://schemas.microsoft.com/office/drawing/2014/main" id="{F3075D30-5C79-9146-AA3A-21A600D80625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2" name="组合 1">
            <a:extLst>
              <a:ext uri="{FF2B5EF4-FFF2-40B4-BE49-F238E27FC236}">
                <a16:creationId xmlns:a16="http://schemas.microsoft.com/office/drawing/2014/main" id="{78358782-AD65-4DC2-9B30-25FADE14A05D}"/>
              </a:ext>
            </a:extLst>
          </p:cNvPr>
          <p:cNvGrpSpPr/>
          <p:nvPr/>
        </p:nvGrpSpPr>
        <p:grpSpPr>
          <a:xfrm>
            <a:off x="1281819" y="2883634"/>
            <a:ext cx="752475" cy="752475"/>
            <a:chOff x="1281819" y="2883634"/>
            <a:chExt cx="752475" cy="752475"/>
          </a:xfrm>
        </p:grpSpPr>
        <p:sp>
          <p:nvSpPr>
            <p:cNvPr id="7" name="椭圆 6">
              <a:extLst>
                <a:ext uri="{FF2B5EF4-FFF2-40B4-BE49-F238E27FC236}">
                  <a16:creationId xmlns:a16="http://schemas.microsoft.com/office/drawing/2014/main" id="{673E11D9-8B6F-5740-9E67-850DC9AFC87F}"/>
                </a:ext>
              </a:extLst>
            </p:cNvPr>
            <p:cNvSpPr/>
            <p:nvPr/>
          </p:nvSpPr>
          <p:spPr>
            <a:xfrm>
              <a:off x="1281819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8" name="任意多边形: 形状 7">
              <a:extLst>
                <a:ext uri="{FF2B5EF4-FFF2-40B4-BE49-F238E27FC236}">
                  <a16:creationId xmlns:a16="http://schemas.microsoft.com/office/drawing/2014/main" id="{07C85C64-F6FE-114C-B816-C8810D589031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6607" y="3041764"/>
              <a:ext cx="422896" cy="425535"/>
            </a:xfrm>
            <a:custGeom>
              <a:avLst/>
              <a:gdLst>
                <a:gd name="connsiteX0" fmla="*/ 0 w 596445"/>
                <a:gd name="connsiteY0" fmla="*/ 460757 h 600166"/>
                <a:gd name="connsiteX1" fmla="*/ 162584 w 596445"/>
                <a:gd name="connsiteY1" fmla="*/ 515661 h 600166"/>
                <a:gd name="connsiteX2" fmla="*/ 325168 w 596445"/>
                <a:gd name="connsiteY2" fmla="*/ 460757 h 600166"/>
                <a:gd name="connsiteX3" fmla="*/ 325168 w 596445"/>
                <a:gd name="connsiteY3" fmla="*/ 540965 h 600166"/>
                <a:gd name="connsiteX4" fmla="*/ 162584 w 596445"/>
                <a:gd name="connsiteY4" fmla="*/ 600166 h 600166"/>
                <a:gd name="connsiteX5" fmla="*/ 0 w 596445"/>
                <a:gd name="connsiteY5" fmla="*/ 540965 h 600166"/>
                <a:gd name="connsiteX6" fmla="*/ 596251 w 596445"/>
                <a:gd name="connsiteY6" fmla="*/ 369557 h 600166"/>
                <a:gd name="connsiteX7" fmla="*/ 596251 w 596445"/>
                <a:gd name="connsiteY7" fmla="*/ 449765 h 600166"/>
                <a:gd name="connsiteX8" fmla="*/ 433673 w 596445"/>
                <a:gd name="connsiteY8" fmla="*/ 508966 h 600166"/>
                <a:gd name="connsiteX9" fmla="*/ 347602 w 596445"/>
                <a:gd name="connsiteY9" fmla="*/ 499895 h 600166"/>
                <a:gd name="connsiteX10" fmla="*/ 347602 w 596445"/>
                <a:gd name="connsiteY10" fmla="*/ 415390 h 600166"/>
                <a:gd name="connsiteX11" fmla="*/ 433673 w 596445"/>
                <a:gd name="connsiteY11" fmla="*/ 424461 h 600166"/>
                <a:gd name="connsiteX12" fmla="*/ 596251 w 596445"/>
                <a:gd name="connsiteY12" fmla="*/ 369557 h 600166"/>
                <a:gd name="connsiteX13" fmla="*/ 0 w 596445"/>
                <a:gd name="connsiteY13" fmla="*/ 346681 h 600166"/>
                <a:gd name="connsiteX14" fmla="*/ 162584 w 596445"/>
                <a:gd name="connsiteY14" fmla="*/ 401108 h 600166"/>
                <a:gd name="connsiteX15" fmla="*/ 325168 w 596445"/>
                <a:gd name="connsiteY15" fmla="*/ 346681 h 600166"/>
                <a:gd name="connsiteX16" fmla="*/ 325168 w 596445"/>
                <a:gd name="connsiteY16" fmla="*/ 426889 h 600166"/>
                <a:gd name="connsiteX17" fmla="*/ 162584 w 596445"/>
                <a:gd name="connsiteY17" fmla="*/ 486090 h 600166"/>
                <a:gd name="connsiteX18" fmla="*/ 0 w 596445"/>
                <a:gd name="connsiteY18" fmla="*/ 426889 h 600166"/>
                <a:gd name="connsiteX19" fmla="*/ 0 w 596445"/>
                <a:gd name="connsiteY19" fmla="*/ 346681 h 600166"/>
                <a:gd name="connsiteX20" fmla="*/ 596233 w 596445"/>
                <a:gd name="connsiteY20" fmla="*/ 254944 h 600166"/>
                <a:gd name="connsiteX21" fmla="*/ 596233 w 596445"/>
                <a:gd name="connsiteY21" fmla="*/ 335664 h 600166"/>
                <a:gd name="connsiteX22" fmla="*/ 433667 w 596445"/>
                <a:gd name="connsiteY22" fmla="*/ 394891 h 600166"/>
                <a:gd name="connsiteX23" fmla="*/ 347602 w 596445"/>
                <a:gd name="connsiteY23" fmla="*/ 385816 h 600166"/>
                <a:gd name="connsiteX24" fmla="*/ 347602 w 596445"/>
                <a:gd name="connsiteY24" fmla="*/ 301275 h 600166"/>
                <a:gd name="connsiteX25" fmla="*/ 433667 w 596445"/>
                <a:gd name="connsiteY25" fmla="*/ 309872 h 600166"/>
                <a:gd name="connsiteX26" fmla="*/ 596233 w 596445"/>
                <a:gd name="connsiteY26" fmla="*/ 254944 h 600166"/>
                <a:gd name="connsiteX27" fmla="*/ 162555 w 596445"/>
                <a:gd name="connsiteY27" fmla="*/ 205813 h 600166"/>
                <a:gd name="connsiteX28" fmla="*/ 325109 w 596445"/>
                <a:gd name="connsiteY28" fmla="*/ 265022 h 600166"/>
                <a:gd name="connsiteX29" fmla="*/ 325109 w 596445"/>
                <a:gd name="connsiteY29" fmla="*/ 313726 h 600166"/>
                <a:gd name="connsiteX30" fmla="*/ 162555 w 596445"/>
                <a:gd name="connsiteY30" fmla="*/ 372935 h 600166"/>
                <a:gd name="connsiteX31" fmla="*/ 0 w 596445"/>
                <a:gd name="connsiteY31" fmla="*/ 313726 h 600166"/>
                <a:gd name="connsiteX32" fmla="*/ 0 w 596445"/>
                <a:gd name="connsiteY32" fmla="*/ 265022 h 600166"/>
                <a:gd name="connsiteX33" fmla="*/ 162555 w 596445"/>
                <a:gd name="connsiteY33" fmla="*/ 205813 h 600166"/>
                <a:gd name="connsiteX34" fmla="*/ 67402 w 596445"/>
                <a:gd name="connsiteY34" fmla="*/ 140407 h 600166"/>
                <a:gd name="connsiteX35" fmla="*/ 139640 w 596445"/>
                <a:gd name="connsiteY35" fmla="*/ 185286 h 600166"/>
                <a:gd name="connsiteX36" fmla="*/ 67402 w 596445"/>
                <a:gd name="connsiteY36" fmla="*/ 194835 h 600166"/>
                <a:gd name="connsiteX37" fmla="*/ 433697 w 596445"/>
                <a:gd name="connsiteY37" fmla="*/ 114613 h 600166"/>
                <a:gd name="connsiteX38" fmla="*/ 596251 w 596445"/>
                <a:gd name="connsiteY38" fmla="*/ 173822 h 600166"/>
                <a:gd name="connsiteX39" fmla="*/ 596251 w 596445"/>
                <a:gd name="connsiteY39" fmla="*/ 222526 h 600166"/>
                <a:gd name="connsiteX40" fmla="*/ 433697 w 596445"/>
                <a:gd name="connsiteY40" fmla="*/ 281735 h 600166"/>
                <a:gd name="connsiteX41" fmla="*/ 347638 w 596445"/>
                <a:gd name="connsiteY41" fmla="*/ 272663 h 600166"/>
                <a:gd name="connsiteX42" fmla="*/ 347638 w 596445"/>
                <a:gd name="connsiteY42" fmla="*/ 269320 h 600166"/>
                <a:gd name="connsiteX43" fmla="*/ 322299 w 596445"/>
                <a:gd name="connsiteY43" fmla="*/ 223959 h 600166"/>
                <a:gd name="connsiteX44" fmla="*/ 321343 w 596445"/>
                <a:gd name="connsiteY44" fmla="*/ 223481 h 600166"/>
                <a:gd name="connsiteX45" fmla="*/ 271142 w 596445"/>
                <a:gd name="connsiteY45" fmla="*/ 199606 h 600166"/>
                <a:gd name="connsiteX46" fmla="*/ 271142 w 596445"/>
                <a:gd name="connsiteY46" fmla="*/ 173822 h 600166"/>
                <a:gd name="connsiteX47" fmla="*/ 433697 w 596445"/>
                <a:gd name="connsiteY47" fmla="*/ 114613 h 600166"/>
                <a:gd name="connsiteX48" fmla="*/ 229995 w 596445"/>
                <a:gd name="connsiteY48" fmla="*/ 0 h 600166"/>
                <a:gd name="connsiteX49" fmla="*/ 392588 w 596445"/>
                <a:gd name="connsiteY49" fmla="*/ 59209 h 600166"/>
                <a:gd name="connsiteX50" fmla="*/ 392588 w 596445"/>
                <a:gd name="connsiteY50" fmla="*/ 93588 h 600166"/>
                <a:gd name="connsiteX51" fmla="*/ 248167 w 596445"/>
                <a:gd name="connsiteY51" fmla="*/ 166645 h 600166"/>
                <a:gd name="connsiteX52" fmla="*/ 229995 w 596445"/>
                <a:gd name="connsiteY52" fmla="*/ 167122 h 600166"/>
                <a:gd name="connsiteX53" fmla="*/ 67402 w 596445"/>
                <a:gd name="connsiteY53" fmla="*/ 107913 h 600166"/>
                <a:gd name="connsiteX54" fmla="*/ 67402 w 596445"/>
                <a:gd name="connsiteY54" fmla="*/ 59209 h 600166"/>
                <a:gd name="connsiteX55" fmla="*/ 229995 w 596445"/>
                <a:gd name="connsiteY55" fmla="*/ 0 h 60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</a:cxnLst>
              <a:rect l="l" t="t" r="r" b="b"/>
              <a:pathLst>
                <a:path w="596445" h="600166">
                  <a:moveTo>
                    <a:pt x="0" y="460757"/>
                  </a:moveTo>
                  <a:cubicBezTo>
                    <a:pt x="6217" y="491312"/>
                    <a:pt x="76989" y="515661"/>
                    <a:pt x="162584" y="515661"/>
                  </a:cubicBezTo>
                  <a:cubicBezTo>
                    <a:pt x="248658" y="515661"/>
                    <a:pt x="318952" y="491312"/>
                    <a:pt x="325168" y="460757"/>
                  </a:cubicBezTo>
                  <a:cubicBezTo>
                    <a:pt x="325646" y="462189"/>
                    <a:pt x="325168" y="540965"/>
                    <a:pt x="325168" y="540965"/>
                  </a:cubicBezTo>
                  <a:cubicBezTo>
                    <a:pt x="325168" y="573907"/>
                    <a:pt x="252483" y="600166"/>
                    <a:pt x="162584" y="600166"/>
                  </a:cubicBezTo>
                  <a:cubicBezTo>
                    <a:pt x="72685" y="600166"/>
                    <a:pt x="0" y="573907"/>
                    <a:pt x="0" y="540965"/>
                  </a:cubicBezTo>
                  <a:close/>
                  <a:moveTo>
                    <a:pt x="596251" y="369557"/>
                  </a:moveTo>
                  <a:cubicBezTo>
                    <a:pt x="596251" y="370989"/>
                    <a:pt x="596251" y="449765"/>
                    <a:pt x="596251" y="449765"/>
                  </a:cubicBezTo>
                  <a:cubicBezTo>
                    <a:pt x="596251" y="482230"/>
                    <a:pt x="523569" y="508966"/>
                    <a:pt x="433673" y="508966"/>
                  </a:cubicBezTo>
                  <a:cubicBezTo>
                    <a:pt x="402114" y="508966"/>
                    <a:pt x="372467" y="505624"/>
                    <a:pt x="347602" y="499895"/>
                  </a:cubicBezTo>
                  <a:lnTo>
                    <a:pt x="347602" y="415390"/>
                  </a:lnTo>
                  <a:cubicBezTo>
                    <a:pt x="372467" y="421119"/>
                    <a:pt x="402114" y="424461"/>
                    <a:pt x="433673" y="424461"/>
                  </a:cubicBezTo>
                  <a:cubicBezTo>
                    <a:pt x="519266" y="424461"/>
                    <a:pt x="590035" y="400112"/>
                    <a:pt x="596251" y="369557"/>
                  </a:cubicBezTo>
                  <a:close/>
                  <a:moveTo>
                    <a:pt x="0" y="346681"/>
                  </a:moveTo>
                  <a:cubicBezTo>
                    <a:pt x="6217" y="377236"/>
                    <a:pt x="76989" y="401108"/>
                    <a:pt x="162584" y="401108"/>
                  </a:cubicBezTo>
                  <a:cubicBezTo>
                    <a:pt x="248658" y="401108"/>
                    <a:pt x="318952" y="377236"/>
                    <a:pt x="325168" y="346681"/>
                  </a:cubicBezTo>
                  <a:cubicBezTo>
                    <a:pt x="325646" y="348113"/>
                    <a:pt x="325168" y="426889"/>
                    <a:pt x="325168" y="426889"/>
                  </a:cubicBezTo>
                  <a:cubicBezTo>
                    <a:pt x="325168" y="459354"/>
                    <a:pt x="252483" y="486090"/>
                    <a:pt x="162584" y="486090"/>
                  </a:cubicBezTo>
                  <a:cubicBezTo>
                    <a:pt x="72685" y="486090"/>
                    <a:pt x="0" y="459354"/>
                    <a:pt x="0" y="426889"/>
                  </a:cubicBezTo>
                  <a:cubicBezTo>
                    <a:pt x="0" y="426889"/>
                    <a:pt x="0" y="348113"/>
                    <a:pt x="0" y="346681"/>
                  </a:cubicBezTo>
                  <a:close/>
                  <a:moveTo>
                    <a:pt x="596233" y="254944"/>
                  </a:moveTo>
                  <a:cubicBezTo>
                    <a:pt x="596711" y="256855"/>
                    <a:pt x="596233" y="335664"/>
                    <a:pt x="596233" y="335664"/>
                  </a:cubicBezTo>
                  <a:cubicBezTo>
                    <a:pt x="596233" y="368143"/>
                    <a:pt x="523556" y="394891"/>
                    <a:pt x="433667" y="394891"/>
                  </a:cubicBezTo>
                  <a:cubicBezTo>
                    <a:pt x="402110" y="394891"/>
                    <a:pt x="372465" y="391548"/>
                    <a:pt x="347602" y="385816"/>
                  </a:cubicBezTo>
                  <a:lnTo>
                    <a:pt x="347602" y="301275"/>
                  </a:lnTo>
                  <a:cubicBezTo>
                    <a:pt x="372465" y="306529"/>
                    <a:pt x="402110" y="309872"/>
                    <a:pt x="433667" y="309872"/>
                  </a:cubicBezTo>
                  <a:cubicBezTo>
                    <a:pt x="519253" y="309872"/>
                    <a:pt x="590017" y="285990"/>
                    <a:pt x="596233" y="254944"/>
                  </a:cubicBezTo>
                  <a:close/>
                  <a:moveTo>
                    <a:pt x="162555" y="205813"/>
                  </a:moveTo>
                  <a:cubicBezTo>
                    <a:pt x="252438" y="205813"/>
                    <a:pt x="325109" y="232553"/>
                    <a:pt x="325109" y="265022"/>
                  </a:cubicBezTo>
                  <a:lnTo>
                    <a:pt x="325109" y="313726"/>
                  </a:lnTo>
                  <a:cubicBezTo>
                    <a:pt x="325109" y="346673"/>
                    <a:pt x="252438" y="372935"/>
                    <a:pt x="162555" y="372935"/>
                  </a:cubicBezTo>
                  <a:cubicBezTo>
                    <a:pt x="72672" y="372935"/>
                    <a:pt x="0" y="346673"/>
                    <a:pt x="0" y="313726"/>
                  </a:cubicBezTo>
                  <a:lnTo>
                    <a:pt x="0" y="265022"/>
                  </a:lnTo>
                  <a:cubicBezTo>
                    <a:pt x="0" y="232553"/>
                    <a:pt x="72672" y="205813"/>
                    <a:pt x="162555" y="205813"/>
                  </a:cubicBezTo>
                  <a:close/>
                  <a:moveTo>
                    <a:pt x="67402" y="140407"/>
                  </a:moveTo>
                  <a:cubicBezTo>
                    <a:pt x="71229" y="159027"/>
                    <a:pt x="99455" y="175260"/>
                    <a:pt x="139640" y="185286"/>
                  </a:cubicBezTo>
                  <a:cubicBezTo>
                    <a:pt x="114764" y="186241"/>
                    <a:pt x="90365" y="189583"/>
                    <a:pt x="67402" y="194835"/>
                  </a:cubicBezTo>
                  <a:close/>
                  <a:moveTo>
                    <a:pt x="433697" y="114613"/>
                  </a:moveTo>
                  <a:cubicBezTo>
                    <a:pt x="523580" y="114613"/>
                    <a:pt x="596251" y="141353"/>
                    <a:pt x="596251" y="173822"/>
                  </a:cubicBezTo>
                  <a:lnTo>
                    <a:pt x="596251" y="222526"/>
                  </a:lnTo>
                  <a:cubicBezTo>
                    <a:pt x="596251" y="255473"/>
                    <a:pt x="523580" y="281735"/>
                    <a:pt x="433697" y="281735"/>
                  </a:cubicBezTo>
                  <a:cubicBezTo>
                    <a:pt x="402142" y="281735"/>
                    <a:pt x="372500" y="278393"/>
                    <a:pt x="347638" y="272663"/>
                  </a:cubicBezTo>
                  <a:lnTo>
                    <a:pt x="347638" y="269320"/>
                  </a:lnTo>
                  <a:cubicBezTo>
                    <a:pt x="347638" y="251176"/>
                    <a:pt x="338076" y="236373"/>
                    <a:pt x="322299" y="223959"/>
                  </a:cubicBezTo>
                  <a:lnTo>
                    <a:pt x="321343" y="223481"/>
                  </a:lnTo>
                  <a:cubicBezTo>
                    <a:pt x="308434" y="213454"/>
                    <a:pt x="290744" y="205814"/>
                    <a:pt x="271142" y="199606"/>
                  </a:cubicBezTo>
                  <a:lnTo>
                    <a:pt x="271142" y="173822"/>
                  </a:lnTo>
                  <a:cubicBezTo>
                    <a:pt x="271142" y="141353"/>
                    <a:pt x="343814" y="114613"/>
                    <a:pt x="433697" y="114613"/>
                  </a:cubicBezTo>
                  <a:close/>
                  <a:moveTo>
                    <a:pt x="229995" y="0"/>
                  </a:moveTo>
                  <a:cubicBezTo>
                    <a:pt x="319900" y="0"/>
                    <a:pt x="392588" y="26262"/>
                    <a:pt x="392588" y="59209"/>
                  </a:cubicBezTo>
                  <a:lnTo>
                    <a:pt x="392588" y="93588"/>
                  </a:lnTo>
                  <a:cubicBezTo>
                    <a:pt x="317987" y="99318"/>
                    <a:pt x="251515" y="124625"/>
                    <a:pt x="248167" y="166645"/>
                  </a:cubicBezTo>
                  <a:cubicBezTo>
                    <a:pt x="242429" y="167122"/>
                    <a:pt x="236212" y="167122"/>
                    <a:pt x="229995" y="167122"/>
                  </a:cubicBezTo>
                  <a:cubicBezTo>
                    <a:pt x="140569" y="167122"/>
                    <a:pt x="67402" y="140382"/>
                    <a:pt x="67402" y="107913"/>
                  </a:cubicBezTo>
                  <a:lnTo>
                    <a:pt x="67402" y="59209"/>
                  </a:lnTo>
                  <a:cubicBezTo>
                    <a:pt x="67402" y="26740"/>
                    <a:pt x="140569" y="0"/>
                    <a:pt x="229995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6" name="文本框 5">
            <a:extLst>
              <a:ext uri="{FF2B5EF4-FFF2-40B4-BE49-F238E27FC236}">
                <a16:creationId xmlns:a16="http://schemas.microsoft.com/office/drawing/2014/main" id="{0B13500C-6E9F-774A-A20B-9A18BCA8FD3A}"/>
              </a:ext>
            </a:extLst>
          </p:cNvPr>
          <p:cNvSpPr txBox="1"/>
          <p:nvPr/>
        </p:nvSpPr>
        <p:spPr>
          <a:xfrm>
            <a:off x="5030652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 dirty="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1</a:t>
            </a:r>
            <a:endParaRPr lang="zh-CN" altLang="en-US" sz="8000" dirty="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C42DADB1-3AB1-0F44-9248-136DE8731AA5}"/>
              </a:ext>
            </a:extLst>
          </p:cNvPr>
          <p:cNvSpPr/>
          <p:nvPr/>
        </p:nvSpPr>
        <p:spPr>
          <a:xfrm>
            <a:off x="993224" y="4303873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13" name="组合 12">
            <a:extLst>
              <a:ext uri="{FF2B5EF4-FFF2-40B4-BE49-F238E27FC236}">
                <a16:creationId xmlns:a16="http://schemas.microsoft.com/office/drawing/2014/main" id="{64E0CD67-9633-4F41-B431-559777F4EB38}"/>
              </a:ext>
            </a:extLst>
          </p:cNvPr>
          <p:cNvGrpSpPr/>
          <p:nvPr/>
        </p:nvGrpSpPr>
        <p:grpSpPr>
          <a:xfrm>
            <a:off x="2191905" y="4427155"/>
            <a:ext cx="3334847" cy="962882"/>
            <a:chOff x="1331921" y="3382460"/>
            <a:chExt cx="3334847" cy="962882"/>
          </a:xfrm>
        </p:grpSpPr>
        <p:sp>
          <p:nvSpPr>
            <p:cNvPr id="18" name="文本框 17">
              <a:extLst>
                <a:ext uri="{FF2B5EF4-FFF2-40B4-BE49-F238E27FC236}">
                  <a16:creationId xmlns:a16="http://schemas.microsoft.com/office/drawing/2014/main" id="{DF03ACF3-EA95-E741-A371-948ABB2C441C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19" name="文本框 18">
              <a:extLst>
                <a:ext uri="{FF2B5EF4-FFF2-40B4-BE49-F238E27FC236}">
                  <a16:creationId xmlns:a16="http://schemas.microsoft.com/office/drawing/2014/main" id="{7363E4A6-4EC2-3740-9704-62F70FB44020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B8AA2DC7-57EE-4839-AD96-AE79B2D98AB6}"/>
              </a:ext>
            </a:extLst>
          </p:cNvPr>
          <p:cNvGrpSpPr/>
          <p:nvPr/>
        </p:nvGrpSpPr>
        <p:grpSpPr>
          <a:xfrm>
            <a:off x="1281819" y="4551772"/>
            <a:ext cx="752475" cy="752475"/>
            <a:chOff x="1281819" y="4551772"/>
            <a:chExt cx="752475" cy="752475"/>
          </a:xfrm>
        </p:grpSpPr>
        <p:sp>
          <p:nvSpPr>
            <p:cNvPr id="16" name="椭圆 15">
              <a:extLst>
                <a:ext uri="{FF2B5EF4-FFF2-40B4-BE49-F238E27FC236}">
                  <a16:creationId xmlns:a16="http://schemas.microsoft.com/office/drawing/2014/main" id="{4131A62A-FC2F-EA4B-90E9-3119CC7A22A6}"/>
                </a:ext>
              </a:extLst>
            </p:cNvPr>
            <p:cNvSpPr/>
            <p:nvPr/>
          </p:nvSpPr>
          <p:spPr>
            <a:xfrm>
              <a:off x="1281819" y="4551772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17" name="任意多边形: 形状 16">
              <a:extLst>
                <a:ext uri="{FF2B5EF4-FFF2-40B4-BE49-F238E27FC236}">
                  <a16:creationId xmlns:a16="http://schemas.microsoft.com/office/drawing/2014/main" id="{38DE5430-12ED-FB46-AFB2-F0D1AAA13C5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1445288" y="4734795"/>
              <a:ext cx="425535" cy="375749"/>
            </a:xfrm>
            <a:custGeom>
              <a:avLst/>
              <a:gdLst>
                <a:gd name="connsiteX0" fmla="*/ 215951 w 579624"/>
                <a:gd name="connsiteY0" fmla="*/ 186880 h 511811"/>
                <a:gd name="connsiteX1" fmla="*/ 202957 w 579624"/>
                <a:gd name="connsiteY1" fmla="*/ 199945 h 511811"/>
                <a:gd name="connsiteX2" fmla="*/ 202957 w 579624"/>
                <a:gd name="connsiteY2" fmla="*/ 212210 h 511811"/>
                <a:gd name="connsiteX3" fmla="*/ 157835 w 579624"/>
                <a:gd name="connsiteY3" fmla="*/ 259673 h 511811"/>
                <a:gd name="connsiteX4" fmla="*/ 205894 w 579624"/>
                <a:gd name="connsiteY4" fmla="*/ 308468 h 511811"/>
                <a:gd name="connsiteX5" fmla="*/ 234107 w 579624"/>
                <a:gd name="connsiteY5" fmla="*/ 331665 h 511811"/>
                <a:gd name="connsiteX6" fmla="*/ 208564 w 579624"/>
                <a:gd name="connsiteY6" fmla="*/ 348197 h 511811"/>
                <a:gd name="connsiteX7" fmla="*/ 178661 w 579624"/>
                <a:gd name="connsiteY7" fmla="*/ 342864 h 511811"/>
                <a:gd name="connsiteX8" fmla="*/ 167180 w 579624"/>
                <a:gd name="connsiteY8" fmla="*/ 343753 h 511811"/>
                <a:gd name="connsiteX9" fmla="*/ 160060 w 579624"/>
                <a:gd name="connsiteY9" fmla="*/ 352730 h 511811"/>
                <a:gd name="connsiteX10" fmla="*/ 159526 w 579624"/>
                <a:gd name="connsiteY10" fmla="*/ 354685 h 511811"/>
                <a:gd name="connsiteX11" fmla="*/ 169850 w 579624"/>
                <a:gd name="connsiteY11" fmla="*/ 373528 h 511811"/>
                <a:gd name="connsiteX12" fmla="*/ 201622 w 579624"/>
                <a:gd name="connsiteY12" fmla="*/ 379128 h 511811"/>
                <a:gd name="connsiteX13" fmla="*/ 201622 w 579624"/>
                <a:gd name="connsiteY13" fmla="*/ 391393 h 511811"/>
                <a:gd name="connsiteX14" fmla="*/ 214616 w 579624"/>
                <a:gd name="connsiteY14" fmla="*/ 404458 h 511811"/>
                <a:gd name="connsiteX15" fmla="*/ 227699 w 579624"/>
                <a:gd name="connsiteY15" fmla="*/ 391393 h 511811"/>
                <a:gd name="connsiteX16" fmla="*/ 227699 w 579624"/>
                <a:gd name="connsiteY16" fmla="*/ 377261 h 511811"/>
                <a:gd name="connsiteX17" fmla="*/ 275224 w 579624"/>
                <a:gd name="connsiteY17" fmla="*/ 327933 h 511811"/>
                <a:gd name="connsiteX18" fmla="*/ 230725 w 579624"/>
                <a:gd name="connsiteY18" fmla="*/ 278071 h 511811"/>
                <a:gd name="connsiteX19" fmla="*/ 198596 w 579624"/>
                <a:gd name="connsiteY19" fmla="*/ 255140 h 511811"/>
                <a:gd name="connsiteX20" fmla="*/ 221558 w 579624"/>
                <a:gd name="connsiteY20" fmla="*/ 240208 h 511811"/>
                <a:gd name="connsiteX21" fmla="*/ 245855 w 579624"/>
                <a:gd name="connsiteY21" fmla="*/ 243763 h 511811"/>
                <a:gd name="connsiteX22" fmla="*/ 257158 w 579624"/>
                <a:gd name="connsiteY22" fmla="*/ 242519 h 511811"/>
                <a:gd name="connsiteX23" fmla="*/ 264100 w 579624"/>
                <a:gd name="connsiteY23" fmla="*/ 233542 h 511811"/>
                <a:gd name="connsiteX24" fmla="*/ 264278 w 579624"/>
                <a:gd name="connsiteY24" fmla="*/ 232564 h 511811"/>
                <a:gd name="connsiteX25" fmla="*/ 253331 w 579624"/>
                <a:gd name="connsiteY25" fmla="*/ 213899 h 511811"/>
                <a:gd name="connsiteX26" fmla="*/ 229034 w 579624"/>
                <a:gd name="connsiteY26" fmla="*/ 210344 h 511811"/>
                <a:gd name="connsiteX27" fmla="*/ 229034 w 579624"/>
                <a:gd name="connsiteY27" fmla="*/ 199945 h 511811"/>
                <a:gd name="connsiteX28" fmla="*/ 215951 w 579624"/>
                <a:gd name="connsiteY28" fmla="*/ 186880 h 511811"/>
                <a:gd name="connsiteX29" fmla="*/ 216485 w 579624"/>
                <a:gd name="connsiteY29" fmla="*/ 144306 h 511811"/>
                <a:gd name="connsiteX30" fmla="*/ 368139 w 579624"/>
                <a:gd name="connsiteY30" fmla="*/ 295669 h 511811"/>
                <a:gd name="connsiteX31" fmla="*/ 216485 w 579624"/>
                <a:gd name="connsiteY31" fmla="*/ 447032 h 511811"/>
                <a:gd name="connsiteX32" fmla="*/ 64920 w 579624"/>
                <a:gd name="connsiteY32" fmla="*/ 295669 h 511811"/>
                <a:gd name="connsiteX33" fmla="*/ 216485 w 579624"/>
                <a:gd name="connsiteY33" fmla="*/ 144306 h 511811"/>
                <a:gd name="connsiteX34" fmla="*/ 216450 w 579624"/>
                <a:gd name="connsiteY34" fmla="*/ 125119 h 511811"/>
                <a:gd name="connsiteX35" fmla="*/ 45657 w 579624"/>
                <a:gd name="connsiteY35" fmla="*/ 295669 h 511811"/>
                <a:gd name="connsiteX36" fmla="*/ 216450 w 579624"/>
                <a:gd name="connsiteY36" fmla="*/ 466219 h 511811"/>
                <a:gd name="connsiteX37" fmla="*/ 387332 w 579624"/>
                <a:gd name="connsiteY37" fmla="*/ 295669 h 511811"/>
                <a:gd name="connsiteX38" fmla="*/ 216450 w 579624"/>
                <a:gd name="connsiteY38" fmla="*/ 125119 h 511811"/>
                <a:gd name="connsiteX39" fmla="*/ 216450 w 579624"/>
                <a:gd name="connsiteY39" fmla="*/ 79527 h 511811"/>
                <a:gd name="connsiteX40" fmla="*/ 432989 w 579624"/>
                <a:gd name="connsiteY40" fmla="*/ 295669 h 511811"/>
                <a:gd name="connsiteX41" fmla="*/ 216450 w 579624"/>
                <a:gd name="connsiteY41" fmla="*/ 511811 h 511811"/>
                <a:gd name="connsiteX42" fmla="*/ 0 w 579624"/>
                <a:gd name="connsiteY42" fmla="*/ 295669 h 511811"/>
                <a:gd name="connsiteX43" fmla="*/ 216450 w 579624"/>
                <a:gd name="connsiteY43" fmla="*/ 79527 h 511811"/>
                <a:gd name="connsiteX44" fmla="*/ 378619 w 579624"/>
                <a:gd name="connsiteY44" fmla="*/ 60757 h 511811"/>
                <a:gd name="connsiteX45" fmla="*/ 518726 w 579624"/>
                <a:gd name="connsiteY45" fmla="*/ 200663 h 511811"/>
                <a:gd name="connsiteX46" fmla="*/ 470926 w 579624"/>
                <a:gd name="connsiteY46" fmla="*/ 305548 h 511811"/>
                <a:gd name="connsiteX47" fmla="*/ 471460 w 579624"/>
                <a:gd name="connsiteY47" fmla="*/ 295682 h 511811"/>
                <a:gd name="connsiteX48" fmla="*/ 331798 w 579624"/>
                <a:gd name="connsiteY48" fmla="*/ 68934 h 511811"/>
                <a:gd name="connsiteX49" fmla="*/ 378619 w 579624"/>
                <a:gd name="connsiteY49" fmla="*/ 60757 h 511811"/>
                <a:gd name="connsiteX50" fmla="*/ 378640 w 579624"/>
                <a:gd name="connsiteY50" fmla="*/ 0 h 511811"/>
                <a:gd name="connsiteX51" fmla="*/ 579624 w 579624"/>
                <a:gd name="connsiteY51" fmla="*/ 200664 h 511811"/>
                <a:gd name="connsiteX52" fmla="*/ 454387 w 579624"/>
                <a:gd name="connsiteY52" fmla="*/ 386487 h 511811"/>
                <a:gd name="connsiteX53" fmla="*/ 468629 w 579624"/>
                <a:gd name="connsiteY53" fmla="*/ 331833 h 511811"/>
                <a:gd name="connsiteX54" fmla="*/ 537968 w 579624"/>
                <a:gd name="connsiteY54" fmla="*/ 200664 h 511811"/>
                <a:gd name="connsiteX55" fmla="*/ 378640 w 579624"/>
                <a:gd name="connsiteY55" fmla="*/ 41590 h 511811"/>
                <a:gd name="connsiteX56" fmla="*/ 307877 w 579624"/>
                <a:gd name="connsiteY56" fmla="*/ 58297 h 511811"/>
                <a:gd name="connsiteX57" fmla="*/ 253047 w 579624"/>
                <a:gd name="connsiteY57" fmla="*/ 44079 h 511811"/>
                <a:gd name="connsiteX58" fmla="*/ 378640 w 579624"/>
                <a:gd name="connsiteY58" fmla="*/ 0 h 5118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579624" h="511811">
                  <a:moveTo>
                    <a:pt x="215951" y="186880"/>
                  </a:moveTo>
                  <a:cubicBezTo>
                    <a:pt x="208742" y="186880"/>
                    <a:pt x="202957" y="192746"/>
                    <a:pt x="202957" y="199945"/>
                  </a:cubicBezTo>
                  <a:lnTo>
                    <a:pt x="202957" y="212210"/>
                  </a:lnTo>
                  <a:cubicBezTo>
                    <a:pt x="174389" y="217899"/>
                    <a:pt x="157835" y="236208"/>
                    <a:pt x="157835" y="259673"/>
                  </a:cubicBezTo>
                  <a:cubicBezTo>
                    <a:pt x="157835" y="285537"/>
                    <a:pt x="177326" y="298869"/>
                    <a:pt x="205894" y="308468"/>
                  </a:cubicBezTo>
                  <a:cubicBezTo>
                    <a:pt x="225652" y="315134"/>
                    <a:pt x="234107" y="321533"/>
                    <a:pt x="234107" y="331665"/>
                  </a:cubicBezTo>
                  <a:cubicBezTo>
                    <a:pt x="234107" y="342331"/>
                    <a:pt x="223694" y="348197"/>
                    <a:pt x="208564" y="348197"/>
                  </a:cubicBezTo>
                  <a:cubicBezTo>
                    <a:pt x="197706" y="348197"/>
                    <a:pt x="187472" y="345975"/>
                    <a:pt x="178661" y="342864"/>
                  </a:cubicBezTo>
                  <a:cubicBezTo>
                    <a:pt x="174834" y="341531"/>
                    <a:pt x="170740" y="341798"/>
                    <a:pt x="167180" y="343753"/>
                  </a:cubicBezTo>
                  <a:cubicBezTo>
                    <a:pt x="163620" y="345620"/>
                    <a:pt x="161039" y="348908"/>
                    <a:pt x="160060" y="352730"/>
                  </a:cubicBezTo>
                  <a:lnTo>
                    <a:pt x="159526" y="354685"/>
                  </a:lnTo>
                  <a:cubicBezTo>
                    <a:pt x="157479" y="362685"/>
                    <a:pt x="162018" y="370951"/>
                    <a:pt x="169850" y="373528"/>
                  </a:cubicBezTo>
                  <a:cubicBezTo>
                    <a:pt x="179106" y="376461"/>
                    <a:pt x="190231" y="378594"/>
                    <a:pt x="201622" y="379128"/>
                  </a:cubicBezTo>
                  <a:lnTo>
                    <a:pt x="201622" y="391393"/>
                  </a:lnTo>
                  <a:cubicBezTo>
                    <a:pt x="201622" y="398592"/>
                    <a:pt x="207407" y="404458"/>
                    <a:pt x="214616" y="404458"/>
                  </a:cubicBezTo>
                  <a:cubicBezTo>
                    <a:pt x="221825" y="404458"/>
                    <a:pt x="227699" y="398592"/>
                    <a:pt x="227699" y="391393"/>
                  </a:cubicBezTo>
                  <a:lnTo>
                    <a:pt x="227699" y="377261"/>
                  </a:lnTo>
                  <a:cubicBezTo>
                    <a:pt x="258404" y="371839"/>
                    <a:pt x="275224" y="351664"/>
                    <a:pt x="275224" y="327933"/>
                  </a:cubicBezTo>
                  <a:cubicBezTo>
                    <a:pt x="275224" y="303935"/>
                    <a:pt x="262409" y="289270"/>
                    <a:pt x="230725" y="278071"/>
                  </a:cubicBezTo>
                  <a:cubicBezTo>
                    <a:pt x="207941" y="269538"/>
                    <a:pt x="198596" y="263939"/>
                    <a:pt x="198596" y="255140"/>
                  </a:cubicBezTo>
                  <a:cubicBezTo>
                    <a:pt x="198596" y="247674"/>
                    <a:pt x="204292" y="240208"/>
                    <a:pt x="221558" y="240208"/>
                  </a:cubicBezTo>
                  <a:cubicBezTo>
                    <a:pt x="231437" y="240208"/>
                    <a:pt x="239447" y="241808"/>
                    <a:pt x="245855" y="243763"/>
                  </a:cubicBezTo>
                  <a:cubicBezTo>
                    <a:pt x="249593" y="244918"/>
                    <a:pt x="253687" y="244474"/>
                    <a:pt x="257158" y="242519"/>
                  </a:cubicBezTo>
                  <a:cubicBezTo>
                    <a:pt x="260540" y="240652"/>
                    <a:pt x="263121" y="237364"/>
                    <a:pt x="264100" y="233542"/>
                  </a:cubicBezTo>
                  <a:lnTo>
                    <a:pt x="264278" y="232564"/>
                  </a:lnTo>
                  <a:cubicBezTo>
                    <a:pt x="266414" y="224387"/>
                    <a:pt x="261519" y="216032"/>
                    <a:pt x="253331" y="213899"/>
                  </a:cubicBezTo>
                  <a:cubicBezTo>
                    <a:pt x="246656" y="212122"/>
                    <a:pt x="238735" y="210788"/>
                    <a:pt x="229034" y="210344"/>
                  </a:cubicBezTo>
                  <a:lnTo>
                    <a:pt x="229034" y="199945"/>
                  </a:lnTo>
                  <a:cubicBezTo>
                    <a:pt x="229034" y="192746"/>
                    <a:pt x="223249" y="186880"/>
                    <a:pt x="215951" y="186880"/>
                  </a:cubicBezTo>
                  <a:close/>
                  <a:moveTo>
                    <a:pt x="216485" y="144306"/>
                  </a:moveTo>
                  <a:cubicBezTo>
                    <a:pt x="300144" y="144306"/>
                    <a:pt x="368139" y="212210"/>
                    <a:pt x="368139" y="295669"/>
                  </a:cubicBezTo>
                  <a:cubicBezTo>
                    <a:pt x="368139" y="379128"/>
                    <a:pt x="300144" y="447032"/>
                    <a:pt x="216485" y="447032"/>
                  </a:cubicBezTo>
                  <a:cubicBezTo>
                    <a:pt x="132915" y="447032"/>
                    <a:pt x="64920" y="379128"/>
                    <a:pt x="64920" y="295669"/>
                  </a:cubicBezTo>
                  <a:cubicBezTo>
                    <a:pt x="64920" y="212210"/>
                    <a:pt x="132915" y="144306"/>
                    <a:pt x="216485" y="144306"/>
                  </a:cubicBezTo>
                  <a:close/>
                  <a:moveTo>
                    <a:pt x="216450" y="125119"/>
                  </a:moveTo>
                  <a:cubicBezTo>
                    <a:pt x="122287" y="125119"/>
                    <a:pt x="45657" y="201640"/>
                    <a:pt x="45657" y="295669"/>
                  </a:cubicBezTo>
                  <a:cubicBezTo>
                    <a:pt x="45657" y="389698"/>
                    <a:pt x="122287" y="466219"/>
                    <a:pt x="216450" y="466219"/>
                  </a:cubicBezTo>
                  <a:cubicBezTo>
                    <a:pt x="310702" y="466219"/>
                    <a:pt x="387332" y="389698"/>
                    <a:pt x="387332" y="295669"/>
                  </a:cubicBezTo>
                  <a:cubicBezTo>
                    <a:pt x="387332" y="201640"/>
                    <a:pt x="310702" y="125119"/>
                    <a:pt x="216450" y="125119"/>
                  </a:cubicBezTo>
                  <a:close/>
                  <a:moveTo>
                    <a:pt x="216450" y="79527"/>
                  </a:moveTo>
                  <a:cubicBezTo>
                    <a:pt x="336067" y="79527"/>
                    <a:pt x="432989" y="176311"/>
                    <a:pt x="432989" y="295669"/>
                  </a:cubicBezTo>
                  <a:cubicBezTo>
                    <a:pt x="432989" y="415116"/>
                    <a:pt x="336067" y="511811"/>
                    <a:pt x="216450" y="511811"/>
                  </a:cubicBezTo>
                  <a:cubicBezTo>
                    <a:pt x="96922" y="511811"/>
                    <a:pt x="0" y="415116"/>
                    <a:pt x="0" y="295669"/>
                  </a:cubicBezTo>
                  <a:cubicBezTo>
                    <a:pt x="0" y="176311"/>
                    <a:pt x="96922" y="79527"/>
                    <a:pt x="216450" y="79527"/>
                  </a:cubicBezTo>
                  <a:close/>
                  <a:moveTo>
                    <a:pt x="378619" y="60757"/>
                  </a:moveTo>
                  <a:cubicBezTo>
                    <a:pt x="455883" y="60757"/>
                    <a:pt x="518726" y="123510"/>
                    <a:pt x="518726" y="200663"/>
                  </a:cubicBezTo>
                  <a:cubicBezTo>
                    <a:pt x="518726" y="242439"/>
                    <a:pt x="500122" y="279860"/>
                    <a:pt x="470926" y="305548"/>
                  </a:cubicBezTo>
                  <a:cubicBezTo>
                    <a:pt x="471104" y="302259"/>
                    <a:pt x="471460" y="299059"/>
                    <a:pt x="471460" y="295682"/>
                  </a:cubicBezTo>
                  <a:cubicBezTo>
                    <a:pt x="471460" y="196752"/>
                    <a:pt x="414581" y="111066"/>
                    <a:pt x="331798" y="68934"/>
                  </a:cubicBezTo>
                  <a:cubicBezTo>
                    <a:pt x="346485" y="63779"/>
                    <a:pt x="362152" y="60757"/>
                    <a:pt x="378619" y="60757"/>
                  </a:cubicBezTo>
                  <a:close/>
                  <a:moveTo>
                    <a:pt x="378640" y="0"/>
                  </a:moveTo>
                  <a:cubicBezTo>
                    <a:pt x="489635" y="0"/>
                    <a:pt x="579624" y="89757"/>
                    <a:pt x="579624" y="200664"/>
                  </a:cubicBezTo>
                  <a:cubicBezTo>
                    <a:pt x="579624" y="284733"/>
                    <a:pt x="527821" y="356538"/>
                    <a:pt x="454387" y="386487"/>
                  </a:cubicBezTo>
                  <a:cubicBezTo>
                    <a:pt x="461152" y="369069"/>
                    <a:pt x="465870" y="350762"/>
                    <a:pt x="468629" y="331833"/>
                  </a:cubicBezTo>
                  <a:cubicBezTo>
                    <a:pt x="510464" y="303129"/>
                    <a:pt x="537968" y="255051"/>
                    <a:pt x="537968" y="200664"/>
                  </a:cubicBezTo>
                  <a:cubicBezTo>
                    <a:pt x="537968" y="112951"/>
                    <a:pt x="466493" y="41590"/>
                    <a:pt x="378640" y="41590"/>
                  </a:cubicBezTo>
                  <a:cubicBezTo>
                    <a:pt x="353183" y="41590"/>
                    <a:pt x="329240" y="47722"/>
                    <a:pt x="307877" y="58297"/>
                  </a:cubicBezTo>
                  <a:cubicBezTo>
                    <a:pt x="290431" y="51632"/>
                    <a:pt x="272095" y="46833"/>
                    <a:pt x="253047" y="44079"/>
                  </a:cubicBezTo>
                  <a:cubicBezTo>
                    <a:pt x="287494" y="16529"/>
                    <a:pt x="331020" y="0"/>
                    <a:pt x="378640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5ED75ED0-99B1-3944-A192-89AFD5161A9B}"/>
              </a:ext>
            </a:extLst>
          </p:cNvPr>
          <p:cNvSpPr txBox="1"/>
          <p:nvPr/>
        </p:nvSpPr>
        <p:spPr>
          <a:xfrm>
            <a:off x="5030652" y="4303873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3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3C50039F-E72E-1347-8E4B-F9F338C3BA31}"/>
              </a:ext>
            </a:extLst>
          </p:cNvPr>
          <p:cNvSpPr/>
          <p:nvPr/>
        </p:nvSpPr>
        <p:spPr>
          <a:xfrm>
            <a:off x="6275973" y="2635735"/>
            <a:ext cx="4862287" cy="1237594"/>
          </a:xfrm>
          <a:prstGeom prst="rect">
            <a:avLst/>
          </a:prstGeom>
          <a:solidFill>
            <a:schemeClr val="accent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A87B7FAA-699C-4544-99EF-E3F6DB26DF10}"/>
              </a:ext>
            </a:extLst>
          </p:cNvPr>
          <p:cNvGrpSpPr/>
          <p:nvPr/>
        </p:nvGrpSpPr>
        <p:grpSpPr>
          <a:xfrm>
            <a:off x="7474654" y="2759017"/>
            <a:ext cx="3334847" cy="962882"/>
            <a:chOff x="1331921" y="3382460"/>
            <a:chExt cx="3334847" cy="962882"/>
          </a:xfrm>
        </p:grpSpPr>
        <p:sp>
          <p:nvSpPr>
            <p:cNvPr id="36" name="文本框 35">
              <a:extLst>
                <a:ext uri="{FF2B5EF4-FFF2-40B4-BE49-F238E27FC236}">
                  <a16:creationId xmlns:a16="http://schemas.microsoft.com/office/drawing/2014/main" id="{AD8ADF6A-4EBD-AF49-96D9-E4CB213C3801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818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37" name="文本框 36">
              <a:extLst>
                <a:ext uri="{FF2B5EF4-FFF2-40B4-BE49-F238E27FC236}">
                  <a16:creationId xmlns:a16="http://schemas.microsoft.com/office/drawing/2014/main" id="{1AB2645E-69DC-9246-A3A6-767863332A88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5" name="组合 4">
            <a:extLst>
              <a:ext uri="{FF2B5EF4-FFF2-40B4-BE49-F238E27FC236}">
                <a16:creationId xmlns:a16="http://schemas.microsoft.com/office/drawing/2014/main" id="{0857CFA1-CA58-4E8D-B785-2B581D0E6DE8}"/>
              </a:ext>
            </a:extLst>
          </p:cNvPr>
          <p:cNvGrpSpPr/>
          <p:nvPr/>
        </p:nvGrpSpPr>
        <p:grpSpPr>
          <a:xfrm>
            <a:off x="6564568" y="2883634"/>
            <a:ext cx="752475" cy="752475"/>
            <a:chOff x="6564568" y="2883634"/>
            <a:chExt cx="752475" cy="752475"/>
          </a:xfrm>
        </p:grpSpPr>
        <p:sp>
          <p:nvSpPr>
            <p:cNvPr id="34" name="椭圆 33">
              <a:extLst>
                <a:ext uri="{FF2B5EF4-FFF2-40B4-BE49-F238E27FC236}">
                  <a16:creationId xmlns:a16="http://schemas.microsoft.com/office/drawing/2014/main" id="{D32B86DF-9E90-4146-90E9-0111D4EB6070}"/>
                </a:ext>
              </a:extLst>
            </p:cNvPr>
            <p:cNvSpPr/>
            <p:nvPr/>
          </p:nvSpPr>
          <p:spPr>
            <a:xfrm>
              <a:off x="6564568" y="2883634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35" name="任意多边形: 形状 34">
              <a:extLst>
                <a:ext uri="{FF2B5EF4-FFF2-40B4-BE49-F238E27FC236}">
                  <a16:creationId xmlns:a16="http://schemas.microsoft.com/office/drawing/2014/main" id="{33A64362-C1A6-BB44-B3DC-704B0BC08447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28037" y="3070270"/>
              <a:ext cx="425535" cy="368522"/>
            </a:xfrm>
            <a:custGeom>
              <a:avLst/>
              <a:gdLst>
                <a:gd name="connsiteX0" fmla="*/ 249942 w 604110"/>
                <a:gd name="connsiteY0" fmla="*/ 145082 h 523172"/>
                <a:gd name="connsiteX1" fmla="*/ 353179 w 604110"/>
                <a:gd name="connsiteY1" fmla="*/ 145082 h 523172"/>
                <a:gd name="connsiteX2" fmla="*/ 353179 w 604110"/>
                <a:gd name="connsiteY2" fmla="*/ 523172 h 523172"/>
                <a:gd name="connsiteX3" fmla="*/ 249942 w 604110"/>
                <a:gd name="connsiteY3" fmla="*/ 523172 h 523172"/>
                <a:gd name="connsiteX4" fmla="*/ 0 w 604110"/>
                <a:gd name="connsiteY4" fmla="*/ 53700 h 523172"/>
                <a:gd name="connsiteX5" fmla="*/ 227220 w 604110"/>
                <a:gd name="connsiteY5" fmla="*/ 145141 h 523172"/>
                <a:gd name="connsiteX6" fmla="*/ 227220 w 604110"/>
                <a:gd name="connsiteY6" fmla="*/ 523172 h 523172"/>
                <a:gd name="connsiteX7" fmla="*/ 0 w 604110"/>
                <a:gd name="connsiteY7" fmla="*/ 414508 h 523172"/>
                <a:gd name="connsiteX8" fmla="*/ 604110 w 604110"/>
                <a:gd name="connsiteY8" fmla="*/ 49819 h 523172"/>
                <a:gd name="connsiteX9" fmla="*/ 604110 w 604110"/>
                <a:gd name="connsiteY9" fmla="*/ 410805 h 523172"/>
                <a:gd name="connsiteX10" fmla="*/ 376890 w 604110"/>
                <a:gd name="connsiteY10" fmla="*/ 519361 h 523172"/>
                <a:gd name="connsiteX11" fmla="*/ 376890 w 604110"/>
                <a:gd name="connsiteY11" fmla="*/ 141274 h 523172"/>
                <a:gd name="connsiteX12" fmla="*/ 604110 w 604110"/>
                <a:gd name="connsiteY12" fmla="*/ 49819 h 523172"/>
                <a:gd name="connsiteX13" fmla="*/ 76296 w 604110"/>
                <a:gd name="connsiteY13" fmla="*/ 0 h 523172"/>
                <a:gd name="connsiteX14" fmla="*/ 299911 w 604110"/>
                <a:gd name="connsiteY14" fmla="*/ 70898 h 523172"/>
                <a:gd name="connsiteX15" fmla="*/ 523650 w 604110"/>
                <a:gd name="connsiteY15" fmla="*/ 0 h 523172"/>
                <a:gd name="connsiteX16" fmla="*/ 563111 w 604110"/>
                <a:gd name="connsiteY16" fmla="*/ 29376 h 523172"/>
                <a:gd name="connsiteX17" fmla="*/ 353147 w 604110"/>
                <a:gd name="connsiteY17" fmla="*/ 119114 h 523172"/>
                <a:gd name="connsiteX18" fmla="*/ 301524 w 604110"/>
                <a:gd name="connsiteY18" fmla="*/ 119114 h 523172"/>
                <a:gd name="connsiteX19" fmla="*/ 298422 w 604110"/>
                <a:gd name="connsiteY19" fmla="*/ 119114 h 523172"/>
                <a:gd name="connsiteX20" fmla="*/ 246675 w 604110"/>
                <a:gd name="connsiteY20" fmla="*/ 119114 h 523172"/>
                <a:gd name="connsiteX21" fmla="*/ 36835 w 604110"/>
                <a:gd name="connsiteY21" fmla="*/ 29376 h 5231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604110" h="523172">
                  <a:moveTo>
                    <a:pt x="249942" y="145082"/>
                  </a:moveTo>
                  <a:lnTo>
                    <a:pt x="353179" y="145082"/>
                  </a:lnTo>
                  <a:lnTo>
                    <a:pt x="353179" y="523172"/>
                  </a:lnTo>
                  <a:lnTo>
                    <a:pt x="249942" y="523172"/>
                  </a:lnTo>
                  <a:close/>
                  <a:moveTo>
                    <a:pt x="0" y="53700"/>
                  </a:moveTo>
                  <a:cubicBezTo>
                    <a:pt x="0" y="53700"/>
                    <a:pt x="167282" y="63241"/>
                    <a:pt x="227220" y="145141"/>
                  </a:cubicBezTo>
                  <a:lnTo>
                    <a:pt x="227220" y="523172"/>
                  </a:lnTo>
                  <a:cubicBezTo>
                    <a:pt x="227220" y="523172"/>
                    <a:pt x="206496" y="414508"/>
                    <a:pt x="0" y="414508"/>
                  </a:cubicBezTo>
                  <a:close/>
                  <a:moveTo>
                    <a:pt x="604110" y="49819"/>
                  </a:moveTo>
                  <a:lnTo>
                    <a:pt x="604110" y="410805"/>
                  </a:lnTo>
                  <a:cubicBezTo>
                    <a:pt x="397614" y="410805"/>
                    <a:pt x="376890" y="519361"/>
                    <a:pt x="376890" y="519361"/>
                  </a:cubicBezTo>
                  <a:lnTo>
                    <a:pt x="376890" y="141274"/>
                  </a:lnTo>
                  <a:cubicBezTo>
                    <a:pt x="436828" y="59485"/>
                    <a:pt x="604110" y="49819"/>
                    <a:pt x="604110" y="49819"/>
                  </a:cubicBezTo>
                  <a:close/>
                  <a:moveTo>
                    <a:pt x="76296" y="0"/>
                  </a:moveTo>
                  <a:cubicBezTo>
                    <a:pt x="76296" y="0"/>
                    <a:pt x="263304" y="27145"/>
                    <a:pt x="299911" y="70898"/>
                  </a:cubicBezTo>
                  <a:cubicBezTo>
                    <a:pt x="336642" y="27145"/>
                    <a:pt x="523650" y="0"/>
                    <a:pt x="523650" y="0"/>
                  </a:cubicBezTo>
                  <a:lnTo>
                    <a:pt x="563111" y="29376"/>
                  </a:lnTo>
                  <a:cubicBezTo>
                    <a:pt x="341110" y="82054"/>
                    <a:pt x="353147" y="119114"/>
                    <a:pt x="353147" y="119114"/>
                  </a:cubicBezTo>
                  <a:lnTo>
                    <a:pt x="301524" y="119114"/>
                  </a:lnTo>
                  <a:lnTo>
                    <a:pt x="298422" y="119114"/>
                  </a:lnTo>
                  <a:lnTo>
                    <a:pt x="246675" y="119114"/>
                  </a:lnTo>
                  <a:cubicBezTo>
                    <a:pt x="246675" y="119114"/>
                    <a:pt x="258712" y="82054"/>
                    <a:pt x="36835" y="29376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33" name="文本框 32">
            <a:extLst>
              <a:ext uri="{FF2B5EF4-FFF2-40B4-BE49-F238E27FC236}">
                <a16:creationId xmlns:a16="http://schemas.microsoft.com/office/drawing/2014/main" id="{E2966D21-B328-6E44-A71C-D4BE397D5F22}"/>
              </a:ext>
            </a:extLst>
          </p:cNvPr>
          <p:cNvSpPr txBox="1"/>
          <p:nvPr/>
        </p:nvSpPr>
        <p:spPr>
          <a:xfrm>
            <a:off x="10313401" y="2635735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bg1"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2</a:t>
            </a:r>
            <a:endParaRPr lang="zh-CN" altLang="en-US" sz="8000">
              <a:solidFill>
                <a:schemeClr val="bg1"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9" name="矩形 38">
            <a:extLst>
              <a:ext uri="{FF2B5EF4-FFF2-40B4-BE49-F238E27FC236}">
                <a16:creationId xmlns:a16="http://schemas.microsoft.com/office/drawing/2014/main" id="{12594158-ED21-AB4B-9B40-B19282E3E20C}"/>
              </a:ext>
            </a:extLst>
          </p:cNvPr>
          <p:cNvSpPr/>
          <p:nvPr/>
        </p:nvSpPr>
        <p:spPr>
          <a:xfrm>
            <a:off x="6275973" y="4307440"/>
            <a:ext cx="4862287" cy="1237594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228600" sx="102000" sy="102000" algn="c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40" name="组合 39">
            <a:extLst>
              <a:ext uri="{FF2B5EF4-FFF2-40B4-BE49-F238E27FC236}">
                <a16:creationId xmlns:a16="http://schemas.microsoft.com/office/drawing/2014/main" id="{87586267-FB32-7C41-AB0D-4DA9F0A8D0B2}"/>
              </a:ext>
            </a:extLst>
          </p:cNvPr>
          <p:cNvGrpSpPr/>
          <p:nvPr/>
        </p:nvGrpSpPr>
        <p:grpSpPr>
          <a:xfrm>
            <a:off x="7474654" y="4430722"/>
            <a:ext cx="3334847" cy="961022"/>
            <a:chOff x="1331921" y="3382460"/>
            <a:chExt cx="3334847" cy="961022"/>
          </a:xfrm>
        </p:grpSpPr>
        <p:sp>
          <p:nvSpPr>
            <p:cNvPr id="45" name="文本框 44">
              <a:extLst>
                <a:ext uri="{FF2B5EF4-FFF2-40B4-BE49-F238E27FC236}">
                  <a16:creationId xmlns:a16="http://schemas.microsoft.com/office/drawing/2014/main" id="{065EE5C8-9468-BD4F-B670-AD8A92759DB2}"/>
                </a:ext>
              </a:extLst>
            </p:cNvPr>
            <p:cNvSpPr txBox="1"/>
            <p:nvPr/>
          </p:nvSpPr>
          <p:spPr>
            <a:xfrm>
              <a:off x="1331922" y="3727159"/>
              <a:ext cx="2996215" cy="61632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>
                <a:lnSpc>
                  <a:spcPct val="150000"/>
                </a:lnSpc>
              </a:pPr>
              <a:endParaRPr/>
            </a:p>
          </p:txBody>
        </p:sp>
        <p:sp>
          <p:nvSpPr>
            <p:cNvPr id="46" name="文本框 45">
              <a:extLst>
                <a:ext uri="{FF2B5EF4-FFF2-40B4-BE49-F238E27FC236}">
                  <a16:creationId xmlns:a16="http://schemas.microsoft.com/office/drawing/2014/main" id="{ECE790CE-EC83-D242-B503-E2FF08EABD0D}"/>
                </a:ext>
              </a:extLst>
            </p:cNvPr>
            <p:cNvSpPr txBox="1"/>
            <p:nvPr/>
          </p:nvSpPr>
          <p:spPr>
            <a:xfrm>
              <a:off x="1331921" y="3382460"/>
              <a:ext cx="3334847" cy="40011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endParaRPr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F83886E-13F6-40AD-9B4A-34CD5F4CA6C6}"/>
              </a:ext>
            </a:extLst>
          </p:cNvPr>
          <p:cNvGrpSpPr/>
          <p:nvPr/>
        </p:nvGrpSpPr>
        <p:grpSpPr>
          <a:xfrm>
            <a:off x="6564568" y="4555339"/>
            <a:ext cx="752475" cy="752475"/>
            <a:chOff x="6564568" y="4555339"/>
            <a:chExt cx="752475" cy="752475"/>
          </a:xfrm>
        </p:grpSpPr>
        <p:sp>
          <p:nvSpPr>
            <p:cNvPr id="43" name="椭圆 42">
              <a:extLst>
                <a:ext uri="{FF2B5EF4-FFF2-40B4-BE49-F238E27FC236}">
                  <a16:creationId xmlns:a16="http://schemas.microsoft.com/office/drawing/2014/main" id="{FDCEB9D7-C540-6848-BB0E-05BE4192B175}"/>
                </a:ext>
              </a:extLst>
            </p:cNvPr>
            <p:cNvSpPr/>
            <p:nvPr/>
          </p:nvSpPr>
          <p:spPr>
            <a:xfrm>
              <a:off x="6564568" y="4555339"/>
              <a:ext cx="752475" cy="752475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outerShdw blurRad="228600" sx="102000" sy="102000" algn="ctr" rotWithShape="0">
                <a:prstClr val="black">
                  <a:alpha val="20000"/>
                </a:prst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>
              <a:defPPr>
                <a:defRPr lang="zh-CN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  <p:sp>
          <p:nvSpPr>
            <p:cNvPr id="44" name="任意多边形: 形状 43">
              <a:extLst>
                <a:ext uri="{FF2B5EF4-FFF2-40B4-BE49-F238E27FC236}">
                  <a16:creationId xmlns:a16="http://schemas.microsoft.com/office/drawing/2014/main" id="{8DEFA565-4495-EF41-BF2E-1CE47AA2B5ED}"/>
                </a:ext>
              </a:extLst>
            </p:cNvPr>
            <p:cNvSpPr>
              <a:spLocks noChangeAspect="1"/>
            </p:cNvSpPr>
            <p:nvPr/>
          </p:nvSpPr>
          <p:spPr bwMode="auto">
            <a:xfrm>
              <a:off x="6762068" y="4713469"/>
              <a:ext cx="357472" cy="425535"/>
            </a:xfrm>
            <a:custGeom>
              <a:avLst/>
              <a:gdLst>
                <a:gd name="T0" fmla="*/ 401 w 401"/>
                <a:gd name="T1" fmla="*/ 89 h 478"/>
                <a:gd name="T2" fmla="*/ 401 w 401"/>
                <a:gd name="T3" fmla="*/ 293 h 478"/>
                <a:gd name="T4" fmla="*/ 73 w 401"/>
                <a:gd name="T5" fmla="*/ 293 h 478"/>
                <a:gd name="T6" fmla="*/ 73 w 401"/>
                <a:gd name="T7" fmla="*/ 89 h 478"/>
                <a:gd name="T8" fmla="*/ 401 w 401"/>
                <a:gd name="T9" fmla="*/ 89 h 478"/>
                <a:gd name="T10" fmla="*/ 39 w 401"/>
                <a:gd name="T11" fmla="*/ 0 h 478"/>
                <a:gd name="T12" fmla="*/ 0 w 401"/>
                <a:gd name="T13" fmla="*/ 39 h 478"/>
                <a:gd name="T14" fmla="*/ 23 w 401"/>
                <a:gd name="T15" fmla="*/ 74 h 478"/>
                <a:gd name="T16" fmla="*/ 23 w 401"/>
                <a:gd name="T17" fmla="*/ 478 h 478"/>
                <a:gd name="T18" fmla="*/ 56 w 401"/>
                <a:gd name="T19" fmla="*/ 478 h 478"/>
                <a:gd name="T20" fmla="*/ 56 w 401"/>
                <a:gd name="T21" fmla="*/ 74 h 478"/>
                <a:gd name="T22" fmla="*/ 78 w 401"/>
                <a:gd name="T23" fmla="*/ 39 h 478"/>
                <a:gd name="T24" fmla="*/ 39 w 401"/>
                <a:gd name="T25" fmla="*/ 0 h 4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401" h="478">
                  <a:moveTo>
                    <a:pt x="401" y="89"/>
                  </a:moveTo>
                  <a:lnTo>
                    <a:pt x="401" y="293"/>
                  </a:lnTo>
                  <a:cubicBezTo>
                    <a:pt x="292" y="212"/>
                    <a:pt x="182" y="375"/>
                    <a:pt x="73" y="293"/>
                  </a:cubicBezTo>
                  <a:lnTo>
                    <a:pt x="73" y="89"/>
                  </a:lnTo>
                  <a:cubicBezTo>
                    <a:pt x="182" y="171"/>
                    <a:pt x="292" y="7"/>
                    <a:pt x="401" y="89"/>
                  </a:cubicBezTo>
                  <a:close/>
                  <a:moveTo>
                    <a:pt x="39" y="0"/>
                  </a:moveTo>
                  <a:cubicBezTo>
                    <a:pt x="18" y="0"/>
                    <a:pt x="0" y="17"/>
                    <a:pt x="0" y="39"/>
                  </a:cubicBezTo>
                  <a:cubicBezTo>
                    <a:pt x="0" y="54"/>
                    <a:pt x="9" y="68"/>
                    <a:pt x="23" y="74"/>
                  </a:cubicBezTo>
                  <a:lnTo>
                    <a:pt x="23" y="478"/>
                  </a:lnTo>
                  <a:lnTo>
                    <a:pt x="56" y="478"/>
                  </a:lnTo>
                  <a:lnTo>
                    <a:pt x="56" y="74"/>
                  </a:lnTo>
                  <a:cubicBezTo>
                    <a:pt x="69" y="68"/>
                    <a:pt x="78" y="54"/>
                    <a:pt x="78" y="39"/>
                  </a:cubicBezTo>
                  <a:cubicBezTo>
                    <a:pt x="78" y="17"/>
                    <a:pt x="61" y="0"/>
                    <a:pt x="39" y="0"/>
                  </a:cubicBez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42" name="文本框 41">
            <a:extLst>
              <a:ext uri="{FF2B5EF4-FFF2-40B4-BE49-F238E27FC236}">
                <a16:creationId xmlns:a16="http://schemas.microsoft.com/office/drawing/2014/main" id="{7AF2B9D3-7A79-7944-990A-709C86E750F7}"/>
              </a:ext>
            </a:extLst>
          </p:cNvPr>
          <p:cNvSpPr txBox="1"/>
          <p:nvPr/>
        </p:nvSpPr>
        <p:spPr>
          <a:xfrm>
            <a:off x="10313401" y="4307440"/>
            <a:ext cx="8763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8000">
                <a:solidFill>
                  <a:schemeClr val="tx1">
                    <a:lumMod val="75000"/>
                    <a:lumOff val="25000"/>
                    <a:alpha val="20000"/>
                  </a:schemeClr>
                </a:solidFill>
                <a:latin typeface="MiSans Normal" pitchFamily="2" charset="-122"/>
                <a:ea typeface="MiSans Normal" pitchFamily="2" charset="-122"/>
              </a:rPr>
              <a:t>4</a:t>
            </a:r>
            <a:endParaRPr lang="zh-CN" altLang="en-US" sz="8000">
              <a:solidFill>
                <a:schemeClr val="tx1">
                  <a:lumMod val="75000"/>
                  <a:lumOff val="25000"/>
                  <a:alpha val="2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A52A0DDB-39AD-11F7-46D5-5B97079B383E}"/>
              </a:ext>
            </a:extLst>
          </p:cNvPr>
          <p:cNvSpPr txBox="1"/>
          <p:nvPr/>
        </p:nvSpPr>
        <p:spPr>
          <a:xfrm>
            <a:off x="1219200" y="19202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 sz="1400"/>
              <a:t>管理决策 管理决策</a:t>
            </a:r>
            <a:r>
              <a:rPr lang="en-US" altLang="zh-CN" sz="1400"/>
              <a:t>•</a:t>
            </a:r>
            <a:r>
              <a:rPr lang="zh-CN" altLang="en-US" sz="1400"/>
              <a:t>确认试点范围与预算边界</a:t>
            </a:r>
          </a:p>
        </p:txBody>
      </p:sp>
    </p:spTree>
    <p:extLst>
      <p:ext uri="{BB962C8B-B14F-4D97-AF65-F5344CB8AC3E}">
        <p14:creationId xmlns:p14="http://schemas.microsoft.com/office/powerpoint/2010/main" val="32102961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0" presetClass="entr" presetSubtype="0" fill="hold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3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" presetClass="entr" presetSubtype="2" decel="100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3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3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animBg="1"/>
      <p:bldP spid="6" grpId="0"/>
      <p:bldP spid="12" grpId="0" animBg="1"/>
      <p:bldP spid="15" grpId="0"/>
      <p:bldP spid="30" grpId="0" animBg="1"/>
      <p:bldP spid="33" grpId="0"/>
      <p:bldP spid="39" grpId="0" animBg="1"/>
      <p:bldP spid="42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8D2568A0-48FD-D487-9F32-9FE7C62D1041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7259F75C-4CA4-90AC-9566-B5CBE92D27A8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BD99DFA4-8611-8CA2-9A79-348235EB86C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谢谢观看</a:t>
            </a:r>
          </a:p>
        </p:txBody>
      </p:sp>
      <p:sp>
        <p:nvSpPr>
          <p:cNvPr id="2" name="椭圆 1">
            <a:extLst>
              <a:ext uri="{FF2B5EF4-FFF2-40B4-BE49-F238E27FC236}">
                <a16:creationId xmlns:a16="http://schemas.microsoft.com/office/drawing/2014/main" id="{8B2DE356-DAE4-B04A-A48B-6F8A5B845F1A}"/>
              </a:ext>
            </a:extLst>
          </p:cNvPr>
          <p:cNvSpPr/>
          <p:nvPr/>
        </p:nvSpPr>
        <p:spPr>
          <a:xfrm>
            <a:off x="1532959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椭圆 2">
            <a:extLst>
              <a:ext uri="{FF2B5EF4-FFF2-40B4-BE49-F238E27FC236}">
                <a16:creationId xmlns:a16="http://schemas.microsoft.com/office/drawing/2014/main" id="{950F31DD-3447-7246-92C4-F6A1FEBB7356}"/>
              </a:ext>
            </a:extLst>
          </p:cNvPr>
          <p:cNvSpPr/>
          <p:nvPr/>
        </p:nvSpPr>
        <p:spPr>
          <a:xfrm>
            <a:off x="4095561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椭圆 3">
            <a:extLst>
              <a:ext uri="{FF2B5EF4-FFF2-40B4-BE49-F238E27FC236}">
                <a16:creationId xmlns:a16="http://schemas.microsoft.com/office/drawing/2014/main" id="{81CA9E58-2A9B-1740-99B3-839D77BA1DB0}"/>
              </a:ext>
            </a:extLst>
          </p:cNvPr>
          <p:cNvSpPr/>
          <p:nvPr/>
        </p:nvSpPr>
        <p:spPr>
          <a:xfrm>
            <a:off x="6658163" y="1934930"/>
            <a:ext cx="1438275" cy="1438275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椭圆 4">
            <a:extLst>
              <a:ext uri="{FF2B5EF4-FFF2-40B4-BE49-F238E27FC236}">
                <a16:creationId xmlns:a16="http://schemas.microsoft.com/office/drawing/2014/main" id="{5FFF365B-691C-2149-9984-9CED0E63F08D}"/>
              </a:ext>
            </a:extLst>
          </p:cNvPr>
          <p:cNvSpPr/>
          <p:nvPr/>
        </p:nvSpPr>
        <p:spPr>
          <a:xfrm>
            <a:off x="9220766" y="1934930"/>
            <a:ext cx="1438275" cy="1438275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6CD9B2-168A-AB47-B506-76F1A4CE409B}"/>
              </a:ext>
            </a:extLst>
          </p:cNvPr>
          <p:cNvSpPr txBox="1"/>
          <p:nvPr/>
        </p:nvSpPr>
        <p:spPr>
          <a:xfrm>
            <a:off x="1702935" y="2326847"/>
            <a:ext cx="109832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01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852D442-3785-004F-8D71-F3252C10389C}"/>
              </a:ext>
            </a:extLst>
          </p:cNvPr>
          <p:cNvSpPr txBox="1"/>
          <p:nvPr/>
        </p:nvSpPr>
        <p:spPr>
          <a:xfrm>
            <a:off x="4103520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02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F1F3947-E41D-CE46-9749-C1905CD4066B}"/>
              </a:ext>
            </a:extLst>
          </p:cNvPr>
          <p:cNvSpPr txBox="1"/>
          <p:nvPr/>
        </p:nvSpPr>
        <p:spPr>
          <a:xfrm>
            <a:off x="6666122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03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7A38564B-C9C5-D749-9F46-F9C4D0B89E9F}"/>
              </a:ext>
            </a:extLst>
          </p:cNvPr>
          <p:cNvSpPr txBox="1"/>
          <p:nvPr/>
        </p:nvSpPr>
        <p:spPr>
          <a:xfrm>
            <a:off x="9228723" y="2326847"/>
            <a:ext cx="14223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60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</a:rPr>
              <a:t>04</a:t>
            </a:r>
            <a:endParaRPr lang="zh-CN" altLang="en-US" sz="360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25203B4-42CA-4346-B873-A553F98F57E8}"/>
              </a:ext>
            </a:extLst>
          </p:cNvPr>
          <p:cNvSpPr txBox="1"/>
          <p:nvPr/>
        </p:nvSpPr>
        <p:spPr>
          <a:xfrm>
            <a:off x="102489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DE04553D-CF0C-444E-8251-0D1C484E7F13}"/>
              </a:ext>
            </a:extLst>
          </p:cNvPr>
          <p:cNvSpPr txBox="1"/>
          <p:nvPr/>
        </p:nvSpPr>
        <p:spPr>
          <a:xfrm>
            <a:off x="102489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0E0357AD-2855-0946-8128-A5A556410238}"/>
              </a:ext>
            </a:extLst>
          </p:cNvPr>
          <p:cNvSpPr txBox="1"/>
          <p:nvPr/>
        </p:nvSpPr>
        <p:spPr>
          <a:xfrm>
            <a:off x="356489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ED9C468-E717-F148-809E-2042BF4B9D04}"/>
              </a:ext>
            </a:extLst>
          </p:cNvPr>
          <p:cNvSpPr txBox="1"/>
          <p:nvPr/>
        </p:nvSpPr>
        <p:spPr>
          <a:xfrm>
            <a:off x="356489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FFB52EE-F39A-0547-9C58-4C0A314F8880}"/>
              </a:ext>
            </a:extLst>
          </p:cNvPr>
          <p:cNvSpPr txBox="1"/>
          <p:nvPr/>
        </p:nvSpPr>
        <p:spPr>
          <a:xfrm>
            <a:off x="6193746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DD4E6AD-BE52-DB4B-8ABE-4F3109E14D9F}"/>
              </a:ext>
            </a:extLst>
          </p:cNvPr>
          <p:cNvSpPr txBox="1"/>
          <p:nvPr/>
        </p:nvSpPr>
        <p:spPr>
          <a:xfrm>
            <a:off x="6193746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0A42C54A-6D59-1D4B-9BC7-5E15A5E946C2}"/>
              </a:ext>
            </a:extLst>
          </p:cNvPr>
          <p:cNvSpPr txBox="1"/>
          <p:nvPr/>
        </p:nvSpPr>
        <p:spPr>
          <a:xfrm>
            <a:off x="8733744" y="3921358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4BA5AA8-BBC9-1243-ABB4-D4139051F05C}"/>
              </a:ext>
            </a:extLst>
          </p:cNvPr>
          <p:cNvSpPr txBox="1"/>
          <p:nvPr/>
        </p:nvSpPr>
        <p:spPr>
          <a:xfrm>
            <a:off x="8733744" y="4383023"/>
            <a:ext cx="243336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337798D6-91D0-750A-4C57-42960F204523}"/>
              </a:ext>
            </a:extLst>
          </p:cNvPr>
          <p:cNvSpPr txBox="1"/>
          <p:nvPr/>
        </p:nvSpPr>
        <p:spPr>
          <a:xfrm>
            <a:off x="1219200" y="4177208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pt-BR" altLang="zh-CN" sz="1400"/>
              <a:t>Q&amp;amp;A Q&amp;amp;A Q&amp;amp;A</a:t>
            </a:r>
            <a:endParaRPr lang="zh-CN" altLang="en-US" sz="1400"/>
          </a:p>
        </p:txBody>
      </p:sp>
    </p:spTree>
    <p:extLst>
      <p:ext uri="{BB962C8B-B14F-4D97-AF65-F5344CB8AC3E}">
        <p14:creationId xmlns:p14="http://schemas.microsoft.com/office/powerpoint/2010/main" val="10879988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presetSubtype="4" accel="19000" decel="81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3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3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3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accel="19000" decel="81000" fill="hold" grpId="0" nodeType="withEffect" nodePh="1">
                                  <p:stCondLst>
                                    <p:cond delay="2200"/>
                                  </p:stCondLst>
                                  <p:endCondLst>
                                    <p:cond evt="begin" delay="0">
                                      <p:tn val="4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3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grpId="0" nodeType="withEffect">
                                  <p:stCondLst>
                                    <p:cond delay="260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 nodePh="1">
                                  <p:stCondLst>
                                    <p:cond delay="2800"/>
                                  </p:stCondLst>
                                  <p:endCondLst>
                                    <p:cond evt="begin" delay="0">
                                      <p:tn val="5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30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/>
      <p:bldP spid="7" grpId="0"/>
      <p:bldP spid="8" grpId="0"/>
      <p:bldP spid="9" grpId="0"/>
      <p:bldP spid="10" grpId="0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388</Words>
  <Application>Microsoft Office PowerPoint</Application>
  <PresentationFormat>宽屏</PresentationFormat>
  <Paragraphs>54</Paragraphs>
  <Slides>10</Slides>
  <Notes>6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MiSans Medium</vt:lpstr>
      <vt:lpstr>等线</vt:lpstr>
      <vt:lpstr>MiSans</vt:lpstr>
      <vt:lpstr>MiSans Demibold</vt:lpstr>
      <vt:lpstr>MiSans Light</vt:lpstr>
      <vt:lpstr>等线 Light</vt:lpstr>
      <vt:lpstr>MiSans Semibold</vt:lpstr>
      <vt:lpstr>Arial</vt:lpstr>
      <vt:lpstr>思源黑体 CN Normal</vt:lpstr>
      <vt:lpstr>MiSans Normal</vt:lpstr>
      <vt:lpstr>MiSans ExtraLight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2026-07-06T01:21:40Z</dcterms:modified>
</cp:coreProperties>
</file>