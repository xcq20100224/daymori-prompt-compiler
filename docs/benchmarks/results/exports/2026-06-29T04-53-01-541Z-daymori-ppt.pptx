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475488"/>
            <a:ext cx="11064240" cy="182880"/>
          </a:xfrm>
          <a:prstGeom prst="rect">
            <a:avLst/>
          </a:prstGeom>
          <a:solidFill>
            <a:srgbClr val="2D6CDF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biz-report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40680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董事会摘要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481328"/>
            <a:ext cx="99669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9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导入：情境导入｜复习：力与加速度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通过实验数据强化力是产生加速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3977640"/>
            <a:ext cx="9966960" cy="1143000"/>
          </a:xfrm>
          <a:prstGeom prst="roundRect">
            <a:avLst/>
          </a:prstGeom>
          <a:solidFill>
            <a:srgbClr val="DCE8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4315968"/>
            <a:ext cx="9555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关键要点：结论：力是产生加速度的原因，且加速 ｜ 证据：同一小车（质量1kg）在0N ｜ 行动：建议在3分钟内，让学生根据数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5266944"/>
            <a:ext cx="9966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本页结论：通过实验数据强化力是产生加速；关键抓手：结论：力是产生加速度的原因，且加速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初二物理牛顿第二定律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1/20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导入：学习目标｜本节课学习目标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关键目标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目标：明确掌握牛顿第二定律核心内容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本页结论：明确掌握牛顿第二定律核心内容；关键抓手：结论：掌握F=ma并会进行简单计算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结论：掌握F=ma并会进行简单计算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证据：目标测量：加速度、力、质量的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行动：板演：写出本节课知识脉络图。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结论：掌握F=ma并会进行简单计算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证据：目标测量：加速度、力、质量的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行动：板演：写出本节课知识脉络图。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目标清单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初二物理牛顿第二定律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2/20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概念：概念定义｜牛顿第一定律回顾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数据证据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目标：复述惯性定律，为第二定律铺垫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本页结论：复述惯性定律，为第二定律铺垫；关键抓手：结论：物体保持匀速直线或静止状态。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结论：物体保持匀速直线或静止状态。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证据：水平桌面上小车不受推力时停0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行动：提问：如何让小车加速？引入加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结论：物体保持匀速直线或静止状态。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证据：水平桌面上小车不受推力时停0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行动：提问：如何让小车加速？引入加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牛顿第一定律示意图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初二物理牛顿第二定律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3/20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概念：公式结构｜加速度概念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目标：定义加速度，理解其物理意义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本页结论：定义加速度，理解其物理意义；关键抓手：结论：速度变化率，单位m/s²。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结论：速度变化率，单位m/s²。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证据：小车5秒内速度从0到10m/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行动：练习：给定数据计算加速度。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结论：速度变化率，单位m/s²。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证据：小车5秒内速度从0到10m/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行动：练习：给定数据计算加速度。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加速度公式a=Δv/Δt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初二物理牛顿第二定律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4/20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概念：单位量纲｜力与加速度关系猜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执行动作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目标：猜测力越大，加速度越大的定性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本页结论：猜测力越大，加速度越大的定性；关键抓手：结论：力越大，物体速度变化越快。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结论：力越大，物体速度变化越快。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证据：用相同推力，轻车加速度0.5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行动：提问：控制质量？引出控制变量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结论：力越大，物体速度变化越快。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证据：用相同推力，轻车加速度0.5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行动：提问：控制质量？引出控制变量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两小车对比图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初二物理牛顿第二定律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5/20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概念：适用条件｜实验设计：控制变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目标：设计探究F与a关系的实验方案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本页结论：设计探究F与a关系的实验方案；关键抓手：结论：保持质量不变，改变拉力测量加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结论：保持质量不变，改变拉力测量加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证据：使用气垫导轨和砝码盘，拉力从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行动：板演：绘制表格记录数据。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结论：保持质量不变，改变拉力测量加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证据：使用气垫导轨和砝码盘，拉力从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行动：板演：绘制表格记录数据。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实验装置图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初二物理牛顿第二定律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6/20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实验：实验目的｜实验数据：m一定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目标：记录并分析质量不变时加速度与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本页结论：记录并分析质量不变时加速度与；关键抓手：结论：a与F成正比，a∝F（m不变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结论：a与F成正比，a∝F（m不变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证据：拉力0.2N时a=0.4m/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行动：小组合作完成实验，记录数据。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结论：a与F成正比，a∝F（m不变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证据：拉力0.2N时a=0.4m/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行动：小组合作完成实验，记录数据。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柱状图：力与加速度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初二物理牛顿第二定律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7/20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实验：控制变量｜F恒定条件下质量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目标：通过实验数据可视化，揭示并验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本页结论：通过实验数据可视化，揭示并验；关键抓手：结论：在合力F不变的条件下，加速度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结论：在合力F不变的条件下，加速度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证据：m=1.0kg时a=0.50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行动：采用双质量对比法（1.0kg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结论：在合力F不变的条件下，加速度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证据：m=1.0kg时a=0.50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行动：采用双质量对比法（1.0kg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双轴折线图：横轴为质量(kg)，左纵轴为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初二物理牛顿第二定律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8/20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实验：数据记录｜牛顿第二定律表达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目标：归纳出F=ma公式，理解各物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本页结论：归纳出F=ma公式，理解各物；关键抓手：结论：物体加速度与所受合外力成正比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结论：物体加速度与所受合外力成正比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证据：实验数据拟合直线斜率为1，即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行动：板演：写出公式a=F/m，单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结论：物体加速度与所受合外力成正比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证据：实验数据拟合直线斜率为1，即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行动：板演：写出公式a=F/m，单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课堂动作：第9页可安排30秒提问+60秒板演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公式方框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初二物理牛顿第二定律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9/20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实验：结论提炼｜力的单位：1N定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目标：明确1N的物理意义，强化单位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本页结论：明确1N的物理意义，强化单位；关键抓手：结论：使1kg物体产生1m/s²加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结论：使1kg物体产生1m/s²加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证据：1N=1kg·m/s²，质量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行动：练习：换算常见力（如重力5N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结论：使1kg物体产生1m/s²加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证据：1N=1kg·m/s²，质量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行动：练习：换算常见力（如重力5N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课堂动作：第10页可安排30秒提问+60秒板演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单位换算表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初二物理牛顿第二定律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10/20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例题：基础例题｜受力分析步骤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目标：掌握分析物体受力的方法，为应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本页结论：掌握分析物体受力的方法，为应；关键抓手：结论：确定研究对象，明确重力、支持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结论：确定研究对象，明确重力、支持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证据：水平面上物体受重力10N，支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行动：例题：分析静止在斜面上的物体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结论：确定研究对象，明确重力、支持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证据：水平面上物体受重力10N，支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行动：例题：分析静止在斜面上的物体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课堂动作：第11页可安排30秒提问+60秒板演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97280" y="4315968"/>
            <a:ext cx="6355080" cy="0"/>
          </a:xfrm>
          <a:prstGeom prst="line">
            <a:avLst/>
          </a:prstGeom>
          <a:noFill/>
          <a:ln w="12700">
            <a:solidFill>
              <a:srgbClr val="2D6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438912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受力分析图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初二物理牛顿第二定律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11/20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例题：中档例题｜例题1：水平推力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目标：应用F=ma计算加速度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本页结论：应用F=ma计算加速度；关键抓手：结论：水平推力20N，质量5kg，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结论：水平推力20N，质量5kg，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证据：合外力20N-摩擦力5N=1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行动：板演：学生独立计算，核对答案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结论：水平推力20N，质量5kg，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证据：合外力20N-摩擦力5N=1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行动：板演：学生独立计算，核对答案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课堂动作：第12页可安排30秒提问+60秒板演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97280" y="4315968"/>
            <a:ext cx="6355080" cy="0"/>
          </a:xfrm>
          <a:prstGeom prst="line">
            <a:avLst/>
          </a:prstGeom>
          <a:noFill/>
          <a:ln w="12700">
            <a:solidFill>
              <a:srgbClr val="2D6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438912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题目与解析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初二物理牛顿第二定律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12/20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例题：综合例题｜例题2：竖直下落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目标：应用牛顿第二定律分析自由落体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本页结论：应用牛顿第二定律分析自由落体；关键抓手：结论：自由落体时合外力等于重力，a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结论：自由落体时合外力等于重力，a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证据：质量2kg，重力19.6N，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行动：提问：若空气阻力2N，a为多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结论：自由落体时合外力等于重力，a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证据：质量2kg，重力19.6N，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行动：提问：若空气阻力2N，a为多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课堂动作：第13页可安排30秒提问+60秒板演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97280" y="4315968"/>
            <a:ext cx="6355080" cy="0"/>
          </a:xfrm>
          <a:prstGeom prst="line">
            <a:avLst/>
          </a:prstGeom>
          <a:noFill/>
          <a:ln w="12700">
            <a:solidFill>
              <a:srgbClr val="2D6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438912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自由落体示意图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初二物理牛顿第二定律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13/20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例题：步骤拆解｜实验验证：气垫导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目标：通过气垫导轨验证F=ma定量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本页结论：通过气垫导轨验证F=ma定量；关键抓手：结论：气垫导轨几乎无摩擦，验证精度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结论：气垫导轨几乎无摩擦，验证精度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证据：拉力0.3N，质量0.6kg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行动：演示实验，读出纸带上的加速度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结论：气垫导轨几乎无摩擦，验证精度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证据：拉力0.3N，质量0.6kg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行动：演示实验，读出纸带上的加速度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课堂动作：第14页可安排30秒提问+60秒板演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97280" y="4315968"/>
            <a:ext cx="6355080" cy="0"/>
          </a:xfrm>
          <a:prstGeom prst="line">
            <a:avLst/>
          </a:prstGeom>
          <a:noFill/>
          <a:ln w="12700">
            <a:solidFill>
              <a:srgbClr val="2D6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438912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气垫导轨照片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初二物理牛顿第二定律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14/20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易错：易错点1｜练习1：计算加速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目标：巩固F=ma计算，提升应用能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本页结论：巩固F=ma计算，提升应用能；关键抓手：结论：已知力和质量，求加速度。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结论：已知力和质量，求加速度。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证据：质量10kg受水平力30N，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行动：课堂练习，5分钟后核对答案。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结论：已知力和质量，求加速度。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证据：质量10kg受水平力30N，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行动：课堂练习，5分钟后核对答案。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课堂动作：第15页可安排30秒提问+60秒板演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练习题文本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初二物理牛顿第二定律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15/20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易错：易错点2｜练习2：计算质量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目标：已知加速度和力，求质量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本页结论：已知加速度和力，求质量；关键抓手：结论：变换公式m=F/a。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结论：变换公式m=F/a。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证据：力12N，加速度3m/s²，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行动：小组互批，讲解易错点。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结论：变换公式m=F/a。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证据：力12N，加速度3m/s²，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行动：小组互批，讲解易错点。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课堂动作：第16页可安排30秒提问+60秒板演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练习题文本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初二物理牛顿第二定律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16/20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练习：当堂练习｜常见错误分析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目标：识别并纠正典型误解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本页结论：识别并纠正典型误解；关键抓手：结论：混淆质量与重量，忽视合力方向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结论：混淆质量与重量，忽视合力方向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证据：常见错误：将F=mg直接用于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行动：板演：列出错误例子并修正。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结论：混淆质量与重量，忽视合力方向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证据：常见错误：将F=mg直接用于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行动：板演：列出错误例子并修正。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课堂动作：第17页可安排30秒提问+60秒板演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97280" y="4315968"/>
            <a:ext cx="6355080" cy="0"/>
          </a:xfrm>
          <a:prstGeom prst="line">
            <a:avLst/>
          </a:prstGeom>
          <a:noFill/>
          <a:ln w="12700">
            <a:solidFill>
              <a:srgbClr val="2D6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438912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错误类型表格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初二物理牛顿第二定律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17/20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练习：分层巩固｜牛顿定律应用举例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目标：拓展牛顿第二定律在生活中的应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本页结论：拓展牛顿第二定律在生活中的应；关键抓手：结论：汽车刹车、电梯启动、火箭发射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结论：汽车刹车、电梯启动、火箭发射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证据：刹车时加速度约8m/s²可计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行动：提问：电梯上升启动时人的感觉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结论：汽车刹车、电梯启动、火箭发射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证据：刹车时加速度约8m/s²可计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行动：提问：电梯上升启动时人的感觉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课堂动作：第18页可安排30秒提问+60秒板演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97280" y="4315968"/>
            <a:ext cx="6355080" cy="0"/>
          </a:xfrm>
          <a:prstGeom prst="line">
            <a:avLst/>
          </a:prstGeom>
          <a:noFill/>
          <a:ln w="12700">
            <a:solidFill>
              <a:srgbClr val="2D6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438912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应用场景图片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初二物理牛顿第二定律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18/20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小结：知识小结｜课堂小结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目标：总结本节课核心知识，形成体系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本页结论：总结本节课核心知识，形成体系；关键抓手：结论：力与加速度正比，质量反比，F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结论：力与加速度正比，质量反比，F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证据：实验数据证实正比和反比关系。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行动：板演：画出本节知识树并让学生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结论：力与加速度正比，质量反比，F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证据：实验数据证实正比和反比关系。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行动：板演：画出本节知识树并让学生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课堂动作：第19页可安排30秒提问+60秒板演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092440" y="5047488"/>
            <a:ext cx="2926080" cy="877824"/>
          </a:xfrm>
          <a:prstGeom prst="roundRect">
            <a:avLst/>
          </a:prstGeom>
          <a:solidFill>
            <a:srgbClr val="DCE8F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47888" y="5230368"/>
            <a:ext cx="2606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管理层决策请求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批准试点预算与跨部门协同机制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思维导图模板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DCE8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初二物理牛顿第二定律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19/20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小结：作业拓展｜课后作业与拓展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目标：布置分层作业，满足不同水平学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本页结论：布置分层作业，满足不同水平学；关键抓手：结论：基础题：计算题；挑战题：设计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结论：基础题：计算题；挑战题：设计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证据：基础题：F=20N，m=5k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行动：课后实验：用弹簧测力计和滑块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结论：基础题：计算题；挑战题：设计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证据：基础题：F=20N，m=5k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行动：课后实验：用弹簧测力计和滑块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课堂动作：第20页可安排30秒提问+60秒板演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092440" y="5047488"/>
            <a:ext cx="2926080" cy="877824"/>
          </a:xfrm>
          <a:prstGeom prst="roundRect">
            <a:avLst/>
          </a:prstGeom>
          <a:solidFill>
            <a:srgbClr val="DCE8F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47888" y="5230368"/>
            <a:ext cx="2606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管理层决策请求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批准试点预算与跨部门协同机制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作业清单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DCE8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初二物理牛顿第二定律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20/20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初二物理牛顿第二定律 - biz-report</dc:title>
  <dc:subject>biz-report</dc:subject>
  <dc:creator>Daymori</dc:creator>
  <cp:lastModifiedBy>Daymori</cp:lastModifiedBy>
  <cp:revision>1</cp:revision>
  <dcterms:created xsi:type="dcterms:W3CDTF">2026-06-29T04:53:01Z</dcterms:created>
  <dcterms:modified xsi:type="dcterms:W3CDTF">2026-06-29T04:53:01Z</dcterms:modified>
</cp:coreProperties>
</file>