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1819D-259F-4BF7-87FA-15D052B79ECF}" type="datetimeFigureOut">
              <a:rPr lang="zh-CN" altLang="en-US" smtClean="0"/>
              <a:t>2026/7/8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0FAD35-0555-4ACF-9836-29C8FC4E16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174234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FAD35-0555-4ACF-9836-29C8FC4E16B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682541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 标准答案，适合由 </a:t>
            </a:r>
            <a:r>
              <a:rPr lang="en-US" altLang="zh-CN"/>
              <a:t>AI </a:t>
            </a:r>
            <a:r>
              <a:rPr lang="zh-CN" altLang="en-US"/>
              <a:t>客服优先承接。 人工团队应聚焦投诉处理、 复杂异常与高价值客户沟通， 以提升整体服务质量。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FAD35-0555-4ACF-9836-29C8FC4E16B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69553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 再逐步接入质检分析与 运营报表， 形成可持续优化的服务 闭环。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FAD35-0555-4ACF-9836-29C8FC4E16B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062349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FAD35-0555-4ACF-9836-29C8FC4E16B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682550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FAD35-0555-4ACF-9836-29C8FC4E16B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330706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0FAD35-0555-4ACF-9836-29C8FC4E16B8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996399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2026/7/8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/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/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855D2EE7-6325-3ECE-9701-51E545227029}"/>
              </a:ext>
            </a:extLst>
          </p:cNvPr>
          <p:cNvSpPr txBox="1"/>
          <p:nvPr/>
        </p:nvSpPr>
        <p:spPr>
          <a:xfrm>
            <a:off x="1219200" y="348523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2/10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2159566" cy="348942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3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先明确压力来源</a:t>
            </a: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6A38907E-6E8E-2621-942C-213D8223FA42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4EA22FE7-AAF3-6C7C-74CF-0861DD61E116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图示：高频问题分类卡片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问题拆解</a:t>
            </a: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703719"/>
          </a:xfrm>
          <a:prstGeom prst="rect">
            <a:avLst/>
          </a:prstGeom>
          <a:noFill/>
        </p:spPr>
        <p:txBody>
          <a:bodyPr wrap="square" rtlCol="0">
            <a:no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售前咨询、订单状态、</a:t>
            </a:r>
          </a:p>
          <a:p>
            <a:pPr algn="ctr">
              <a:lnSpc>
                <a:spcPct val="150000"/>
              </a:lnSpc>
            </a:pPr>
            <a:r>
              <a:rPr lang="zh-CN" altLang="en-US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退换货政策与基础售后进度通常具备</a:t>
            </a:r>
            <a:r>
              <a:rPr lang="en-US" altLang="zh-CN" sz="13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...</a:t>
            </a:r>
            <a:endParaRPr lang="zh-CN" altLang="en-US" sz="13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承接标准问题，</a:t>
            </a:r>
          </a:p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用人工处理复杂问题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1996316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内容由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生成</a:t>
            </a:r>
          </a:p>
          <a:p>
            <a:pPr algn="ctr"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5/10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362147B-C58E-531F-CF90-686C6CC5C6D6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用</a:t>
            </a:r>
            <a:r>
              <a:rPr lang="en-US" altLang="zh-CN" sz="1400"/>
              <a:t>AI</a:t>
            </a:r>
            <a:r>
              <a:rPr lang="zh-CN" altLang="en-US" sz="1400"/>
              <a:t>承接标准问题，用人工处理复杂问题 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方案以知识库、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意图识别、多轮对话、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工单联动与人工转接为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核心能力，</a:t>
            </a:r>
          </a:p>
          <a:p>
            <a:pPr algn="ctr"/>
            <a:r>
              <a:rPr lang="zh-CN" altLang="en-US" sz="1200" b="1">
                <a:latin typeface="MiSans Normal" pitchFamily="2" charset="-122"/>
                <a:ea typeface="MiSans Normal" pitchFamily="2" charset="-122"/>
              </a:rPr>
              <a:t>先覆盖标准化问答场景</a:t>
            </a:r>
            <a:r>
              <a:rPr lang="en-US" altLang="zh-CN" sz="1200" b="1">
                <a:latin typeface="MiSans Normal" pitchFamily="2" charset="-122"/>
                <a:ea typeface="MiSans Normal" pitchFamily="2" charset="-122"/>
              </a:rPr>
              <a:t>...</a:t>
            </a:r>
            <a:endParaRPr lang="en-US" altLang="zh-CN" sz="1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图示：</a:t>
            </a:r>
          </a:p>
          <a:p>
            <a:pPr algn="ctr"/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客服能力架构图</a:t>
            </a:r>
          </a:p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内容由</a:t>
            </a:r>
            <a:r>
              <a:rPr lang="en-US" altLang="zh-CN" sz="1400" b="1">
                <a:latin typeface="MiSans Normal" pitchFamily="2" charset="-122"/>
                <a:ea typeface="MiSans Normal" pitchFamily="2" charset="-122"/>
              </a:rPr>
              <a:t>AI</a:t>
            </a:r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生成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rmAutofit/>
          </a:bodyPr>
          <a:lstStyle/>
          <a:p>
            <a:pPr algn="ctr"/>
            <a:r>
              <a:rPr lang="zh-CN" altLang="en-US" sz="1400" b="1">
                <a:latin typeface="MiSans Normal" pitchFamily="2" charset="-122"/>
                <a:ea typeface="MiSans Normal" pitchFamily="2" charset="-122"/>
              </a:rPr>
              <a:t>方案设计</a:t>
            </a:r>
            <a:endParaRPr lang="en-US" altLang="zh-CN" sz="14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阶段：梳理高频问题并建设知识库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接入客服系统并灰度上线 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阶段：根据命中率持续优化运营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/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r>
                <a:rPr lang="zh-CN" altLang="en-US" sz="1200">
                  <a:solidFill>
                    <a:schemeClr val="tx1">
                      <a:lumMod val="85000"/>
                      <a:lumOff val="15000"/>
                    </a:schemeClr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r>
                <a:rPr lang="zh-CN" altLang="en-US" sz="2000">
                  <a:solidFill>
                    <a:srgbClr val="475474"/>
                  </a:solidFill>
                  <a:latin typeface="MiSans Normal" pitchFamily="2" charset="-122"/>
                  <a:ea typeface="MiSans Normal" pitchFamily="2" charset="-122"/>
                </a:rPr>
                <a:t/>
              </a:r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0C91E704-52E0-5C61-7607-C7EF71B5E7A4}"/>
              </a:ext>
            </a:extLst>
          </p:cNvPr>
          <p:cNvSpPr txBox="1"/>
          <p:nvPr/>
        </p:nvSpPr>
        <p:spPr>
          <a:xfrm>
            <a:off x="146304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试点范围：明确首批渠道与服务场景边界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8AEAA6AF-CF20-EA05-6901-DA4B8191FE14}"/>
              </a:ext>
            </a:extLst>
          </p:cNvPr>
          <p:cNvSpPr txBox="1"/>
          <p:nvPr/>
        </p:nvSpPr>
        <p:spPr>
          <a:xfrm>
            <a:off x="6400800" y="21945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预算边界：锁定试点投入上限与审批口径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1DD0009-1551-FF41-D373-9794C54D17FF}"/>
              </a:ext>
            </a:extLst>
          </p:cNvPr>
          <p:cNvSpPr txBox="1"/>
          <p:nvPr/>
        </p:nvSpPr>
        <p:spPr>
          <a:xfrm>
            <a:off x="146304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系统接入：确认客服系统接口与联调计划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D9305638-0832-D6DB-0760-D5FA2E007FA5}"/>
              </a:ext>
            </a:extLst>
          </p:cNvPr>
          <p:cNvSpPr txBox="1"/>
          <p:nvPr/>
        </p:nvSpPr>
        <p:spPr>
          <a:xfrm>
            <a:off x="6400800" y="4251960"/>
            <a:ext cx="432816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责任人：指定业务与技术双负责人机制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内容由</a:t>
            </a: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AI</a:t>
            </a:r>
            <a:r>
              <a:rPr lang="zh-CN" altLang="en-US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生成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Q&amp;amp;A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1026820"/>
          </a:xfrm>
          <a:prstGeom prst="rect">
            <a:avLst/>
          </a:prstGeom>
          <a:noFill/>
        </p:spPr>
        <p:txBody>
          <a:bodyPr wrap="square" rtlCol="0">
            <a:norm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r>
              <a:rPr lang="en-US" altLang="zh-CN" sz="1400">
                <a:solidFill>
                  <a:schemeClr val="bg1">
                    <a:lumMod val="50000"/>
                  </a:schemeClr>
                </a:solidFill>
                <a:latin typeface="MiSans" pitchFamily="2" charset="-122"/>
                <a:ea typeface="MiSans" pitchFamily="2" charset="-122"/>
                <a:sym typeface="思源黑体 CN Medium" panose="020B0600000000000000" pitchFamily="34" charset="-122"/>
              </a:rPr>
              <a:t>10/10</a:t>
            </a: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AF437DDB-8BFE-C430-91D1-4348769E7A8A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en-US" altLang="zh-CN" sz="1400"/>
              <a:t>Q&amp;amp;A Q&amp;amp;A</a:t>
            </a:r>
            <a:r>
              <a:rPr lang="zh-CN" altLang="en-US" sz="1400"/>
              <a:t>内容由</a:t>
            </a:r>
            <a:r>
              <a:rPr lang="en-US" altLang="zh-CN" sz="1400"/>
              <a:t>AI</a:t>
            </a:r>
            <a:r>
              <a:rPr lang="zh-CN" altLang="en-US" sz="1400"/>
              <a:t>生成</a:t>
            </a:r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564</Words>
  <Application>Microsoft Office PowerPoint</Application>
  <PresentationFormat>宽屏</PresentationFormat>
  <Paragraphs>87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Arial</vt:lpstr>
      <vt:lpstr>等线</vt:lpstr>
      <vt:lpstr>MiSans ExtraLight</vt:lpstr>
      <vt:lpstr>MiSans Semibold</vt:lpstr>
      <vt:lpstr>等线 Light</vt:lpstr>
      <vt:lpstr>MiSans</vt:lpstr>
      <vt:lpstr>MiSans Demibold</vt:lpstr>
      <vt:lpstr>MiSans Light</vt:lpstr>
      <vt:lpstr>思源黑体 CN Normal</vt:lpstr>
      <vt:lpstr>MiSans Normal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2026-07-08T04:40:52Z</dcterms:modified>
</cp:coreProperties>
</file>