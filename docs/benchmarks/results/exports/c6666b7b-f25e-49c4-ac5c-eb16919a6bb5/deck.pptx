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Normal" panose="02010600030101010101" charset="-122"/>
      <p:regular r:id="rId17"/>
    </p:embeddedFont>
    <p:embeddedFont>
      <p:font typeface="MiSans Semibold" panose="02010600030101010101" charset="-122"/>
      <p:bold r:id="rId18"/>
    </p:embeddedFont>
    <p:embeddedFont>
      <p:font typeface="等线" panose="02010600030101010101" pitchFamily="2" charset="-122"/>
      <p:regular r:id="rId19"/>
      <p:bold r:id="rId20"/>
    </p:embeddedFont>
    <p:embeddedFont>
      <p:font typeface="等线 Light" panose="02010600030101010101" pitchFamily="2" charset="-122"/>
      <p:regular r:id="rId21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DAF470-F5B6-4230-8CFB-D11D36E3442B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2030B6-7A73-40FF-939D-33493BA534E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515146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供应链优化现状结构图 优先级重排。 图示：供应链优化现状结构图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2030B6-7A73-40FF-939D-33493BA534E1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03459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供应链优化问题分层卡片 执行能力与反馈闭环四个层面。 先聚焦高频高影响环节， 再逐步覆盖复杂场景， 可显著降低试点风险。 图示： 供应链优化问题分层卡片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2030B6-7A73-40FF-939D-33493BA534E1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51539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供应链优化方案架构图 建设， 再通过迭代机制优化质 量， 形成可复制的执行闭环。 图示： 供应链优化方案架构图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2030B6-7A73-40FF-939D-33493BA534E1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862299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2030B6-7A73-40FF-939D-33493BA534E1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484328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成本与稳定性四类指标。 只有当关键指标持续改善，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2030B6-7A73-40FF-939D-33493BA534E1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788935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2030B6-7A73-40FF-939D-33493BA534E1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54810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供应链优化</a:t>
            </a: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供应链优化提案汇报 内容由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生成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1/10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4D13657E-84C4-BC60-18A1-1513710656B6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供应链优化提案汇报 供应链优化提案汇报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供应链优化的核心约束与机会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内容由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AI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生成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2/10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9F423676-57A5-80B7-9637-8511514BAFC3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52B2B6CA-48A3-D64D-61C4-BD5333F4CDA7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供应链优化的核心约束与机会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现状评估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914377">
              <a:defRPr/>
            </a:pPr>
            <a:r>
              <a:rPr lang="zh-CN" altLang="en-US" sz="13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现状背景 供应链优化当前在目标达成、</a:t>
            </a:r>
          </a:p>
          <a:p>
            <a:pPr algn="ctr" defTabSz="914377">
              <a:defRPr/>
            </a:pPr>
            <a:r>
              <a:rPr lang="zh-CN" altLang="en-US" sz="13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资源配置与执行路径上存在明显瓶颈。若继续沿用现有方式，</a:t>
            </a:r>
          </a:p>
          <a:p>
            <a:pPr algn="ctr" defTabSz="914377">
              <a:defRPr/>
            </a:pPr>
            <a:r>
              <a:rPr lang="zh-CN" altLang="en-US" sz="13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成本、效率与可持续性将同步承压，需要先完成问题分层与</a:t>
            </a:r>
            <a:r>
              <a:rPr lang="en-US" altLang="zh-CN" sz="13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...</a:t>
            </a:r>
            <a:endParaRPr lang="zh-CN" altLang="en-US" sz="1300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endParaRPr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369332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1400"/>
              <a:t>问题拆解</a:t>
            </a:r>
            <a:endParaRPr sz="140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369332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1000"/>
              <a:t>围绕供应链优化可将问题拆为</a:t>
            </a:r>
          </a:p>
          <a:p>
            <a:pPr algn="ctr"/>
            <a:r>
              <a:rPr lang="zh-CN" altLang="en-US" sz="1000"/>
              <a:t>目标定义、流程协同、</a:t>
            </a:r>
            <a:r>
              <a:rPr lang="en-US" altLang="zh-CN" sz="1000"/>
              <a:t>...</a:t>
            </a:r>
            <a:endParaRPr sz="100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CD3C9C9-65AD-2560-9B43-486C7CED84E1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关键问题拆解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043617E-F3C4-032E-50D5-D5C153E51A33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000"/>
              <a:t>问题拆解 问题拆解 围绕供应链优化可将问题拆为目标定义、流程协同、执行能力与反馈闭环四个层面。</a:t>
            </a:r>
          </a:p>
          <a:p>
            <a:r>
              <a:rPr lang="zh-CN" altLang="en-US" sz="1000"/>
              <a:t>先聚焦高频高影响环节，再逐步覆盖复杂场景，可显著降低试点风险。</a:t>
            </a:r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wrap="square" lIns="80632" tIns="40316" rIns="80632" bIns="40316" rtlCol="0" anchor="ctr">
            <a:normAutofit/>
          </a:bodyPr>
          <a:lstStyle/>
          <a:p>
            <a:pPr algn="ctr"/>
            <a:r>
              <a:rPr lang="zh-CN" altLang="en-US" sz="1400" kern="0">
                <a:solidFill>
                  <a:sysClr val="window" lastClr="FFFFFF"/>
                </a:solidFill>
                <a:latin typeface="MiSans" panose="00000500000000000000" pitchFamily="2" charset="-122"/>
                <a:ea typeface="MiSans" panose="00000500000000000000" pitchFamily="2" charset="-122"/>
              </a:rPr>
              <a:t>供应链优化的分阶段落地方案</a:t>
            </a:r>
            <a:endParaRPr lang="zh-CN" altLang="en-US" sz="1400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/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  <a:r>
              <a:rPr lang="en-US" altLang="zh-CN" sz="1400"/>
              <a:t>5/10</a:t>
            </a:r>
            <a:endParaRPr lang="zh-CN" altLang="en-US" sz="140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43427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/>
              <a:t>方案设计</a:t>
            </a:r>
            <a:endParaRPr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B0B59F3-6FE1-1D8D-07A8-521E2899B816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供应链优化的分阶段落地方案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100" b="1">
                <a:latin typeface="MiSans Normal" pitchFamily="2" charset="-122"/>
                <a:ea typeface="MiSans Normal" pitchFamily="2" charset="-122"/>
              </a:rPr>
              <a:t>供应链优化方案建议采</a:t>
            </a:r>
          </a:p>
          <a:p>
            <a:pPr algn="ctr"/>
            <a:r>
              <a:rPr lang="zh-CN" altLang="en-US" sz="1100" b="1">
                <a:latin typeface="MiSans Normal" pitchFamily="2" charset="-122"/>
                <a:ea typeface="MiSans Normal" pitchFamily="2" charset="-122"/>
              </a:rPr>
              <a:t>用“目标对齐</a:t>
            </a:r>
            <a:r>
              <a:rPr lang="en-US" altLang="zh-CN" sz="1100" b="1">
                <a:latin typeface="MiSans Normal" pitchFamily="2" charset="-122"/>
                <a:ea typeface="MiSans Normal" pitchFamily="2" charset="-122"/>
              </a:rPr>
              <a:t>-</a:t>
            </a:r>
            <a:r>
              <a:rPr lang="zh-CN" altLang="en-US" sz="1100" b="1">
                <a:latin typeface="MiSans Normal" pitchFamily="2" charset="-122"/>
                <a:ea typeface="MiSans Normal" pitchFamily="2" charset="-122"/>
              </a:rPr>
              <a:t>能力建</a:t>
            </a:r>
          </a:p>
          <a:p>
            <a:pPr algn="ctr"/>
            <a:r>
              <a:rPr lang="zh-CN" altLang="en-US" sz="1100" b="1">
                <a:latin typeface="MiSans Normal" pitchFamily="2" charset="-122"/>
                <a:ea typeface="MiSans Normal" pitchFamily="2" charset="-122"/>
              </a:rPr>
              <a:t>设</a:t>
            </a:r>
            <a:r>
              <a:rPr lang="en-US" altLang="zh-CN" sz="1100" b="1">
                <a:latin typeface="MiSans Normal" pitchFamily="2" charset="-122"/>
                <a:ea typeface="MiSans Normal" pitchFamily="2" charset="-122"/>
              </a:rPr>
              <a:t>-</a:t>
            </a:r>
            <a:r>
              <a:rPr lang="zh-CN" altLang="en-US" sz="1100" b="1">
                <a:latin typeface="MiSans Normal" pitchFamily="2" charset="-122"/>
                <a:ea typeface="MiSans Normal" pitchFamily="2" charset="-122"/>
              </a:rPr>
              <a:t>效果验证”三层架</a:t>
            </a:r>
          </a:p>
          <a:p>
            <a:pPr algn="ctr"/>
            <a:r>
              <a:rPr lang="zh-CN" altLang="en-US" sz="1100" b="1">
                <a:latin typeface="MiSans Normal" pitchFamily="2" charset="-122"/>
                <a:ea typeface="MiSans Normal" pitchFamily="2" charset="-122"/>
              </a:rPr>
              <a:t>构，</a:t>
            </a:r>
          </a:p>
          <a:p>
            <a:pPr algn="ctr"/>
            <a:r>
              <a:rPr lang="zh-CN" altLang="en-US" sz="1100" b="1">
                <a:latin typeface="MiSans Normal" pitchFamily="2" charset="-122"/>
                <a:ea typeface="MiSans Normal" pitchFamily="2" charset="-122"/>
              </a:rPr>
              <a:t>先完成基线与关键能力</a:t>
            </a:r>
            <a:r>
              <a:rPr lang="en-US" altLang="zh-CN" sz="11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1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6C7000E-7365-A0D6-F856-1612650A6FC8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方案架构</a:t>
            </a: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三阶段推进试点落地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914377">
              <a:defRPr/>
            </a:pP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实施路径 第</a:t>
            </a: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1</a:t>
            </a: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阶段：明确供应链优化目标与边界</a:t>
            </a:r>
          </a:p>
          <a:p>
            <a:pPr algn="ctr" defTabSz="914377">
              <a:defRPr/>
            </a:pP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第</a:t>
            </a: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2</a:t>
            </a: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阶段：完成供应链优化试点并跟踪关键指标 第</a:t>
            </a: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3</a:t>
            </a: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阶段：</a:t>
            </a:r>
          </a:p>
          <a:p>
            <a:pPr algn="ctr" defTabSz="914377">
              <a:defRPr/>
            </a:pP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复盘优化后推进规模化</a:t>
            </a:r>
            <a:endParaRPr lang="zh-CN" altLang="en-US" sz="1400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endParaRPr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70365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1379573" y="2265194"/>
            <a:ext cx="17235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70365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1379573" y="4194670"/>
            <a:ext cx="17235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274947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63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343427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000"/>
              <a:t>价值评估 建议围绕供应链优化建立统一</a:t>
            </a:r>
          </a:p>
          <a:p>
            <a:pPr>
              <a:lnSpc>
                <a:spcPct val="150000"/>
              </a:lnSpc>
            </a:pPr>
            <a:r>
              <a:rPr lang="zh-CN" altLang="en-US" sz="1000"/>
              <a:t>指标集，至少覆盖效率、质量、</a:t>
            </a:r>
            <a:r>
              <a:rPr lang="en-US" altLang="zh-CN" sz="1000"/>
              <a:t>...</a:t>
            </a:r>
            <a:endParaRPr sz="100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8BC38D2E-AC91-D581-E7F9-E0F3CA65B6AF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用关键指标验证收益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FA4312E-0B5A-93E8-8243-F6E964EC0BC4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000"/>
              <a:t>价值评估 价值评估 建议围绕供应链优化建立统一指标集，至少覆盖效率、质量、成本与稳定性四类指标。</a:t>
            </a:r>
          </a:p>
          <a:p>
            <a:r>
              <a:rPr lang="zh-CN" altLang="en-US" sz="1000"/>
              <a:t>只有当关键指标持续改善，才进入下一阶段投入。</a:t>
            </a: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83FEC583-55CB-EB4E-6CCE-3F1D4A0DE9E6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下一步决策事项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4687C3F6-463D-DE3B-9AC8-388D79C2D73A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E267D8E4-DBC7-B01F-DA44-0AF489F91E3D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5057DD37-5A59-1C75-0AFD-5D74F99C38CA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DB0294A8-59EA-F092-BA52-717DB51CB1FF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46564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sz="1400"/>
              <a:t>Q&amp;amp;A</a:t>
            </a:r>
            <a:endParaRPr sz="140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46564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/>
              <a:t>内容由</a:t>
            </a:r>
            <a:r>
              <a:rPr lang="en-US" sz="1400"/>
              <a:t>AI</a:t>
            </a:r>
            <a:r>
              <a:rPr lang="zh-CN" altLang="en-US" sz="1400"/>
              <a:t>生成</a:t>
            </a:r>
            <a:r>
              <a:rPr lang="en-US" altLang="zh-CN" sz="1400"/>
              <a:t>10/10</a:t>
            </a:r>
            <a:endParaRPr sz="140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3CBC0633-1C69-8F02-22F7-732A44B91D35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谢谢观看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E0198A69-C0B0-D463-BD85-312D331AD123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547</Words>
  <Application>Microsoft Office PowerPoint</Application>
  <PresentationFormat>宽屏</PresentationFormat>
  <Paragraphs>58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0" baseType="lpstr">
      <vt:lpstr>MiSans ExtraLight</vt:lpstr>
      <vt:lpstr>等线 Light</vt:lpstr>
      <vt:lpstr>MiSans Semibold</vt:lpstr>
      <vt:lpstr>Arial</vt:lpstr>
      <vt:lpstr>MiSans</vt:lpstr>
      <vt:lpstr>MiSans Demibold</vt:lpstr>
      <vt:lpstr>思源黑体 CN Normal</vt:lpstr>
      <vt:lpstr>MiSans Normal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2026-07-08T14:26:35Z</dcterms:modified>
</cp:coreProperties>
</file>